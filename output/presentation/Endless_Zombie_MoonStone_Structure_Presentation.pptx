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73" r:id="rId17"/>
    <p:sldId id="275" r:id="rId18"/>
    <p:sldId id="276" r:id="rId19"/>
    <p:sldId id="277" r:id="rId20"/>
  </p:sldIdLst>
  <p:sldSz cx="12192000" cy="6858000"/>
  <p:notesSz cx="6858000" cy="9144000"/>
  <p:embeddedFontLst>
    <p:embeddedFont>
      <p:font typeface="Helvetica Neue" panose="020B0604020202020204" charset="0"/>
      <p:regular r:id="rId23"/>
      <p:bold r:id="rId24"/>
      <p:italic r:id="rId25"/>
      <p:boldItalic r:id="rId26"/>
    </p:embeddedFont>
    <p:embeddedFont>
      <p:font typeface="Helvetica Neue Light" panose="020B060402020202020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71" autoAdjust="0"/>
  </p:normalViewPr>
  <p:slideViewPr>
    <p:cSldViewPr snapToGrid="0">
      <p:cViewPr>
        <p:scale>
          <a:sx n="125" d="100"/>
          <a:sy n="125" d="100"/>
        </p:scale>
        <p:origin x="-974" y="-8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31932D-ECE5-C43C-99D8-1B96B5E443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4F455C-5546-6519-5EC7-C46C2297C3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10AEB-6B10-4B6E-8153-226DE76F708D}" type="datetimeFigureOut">
              <a:rPr lang="vi-VN" smtClean="0"/>
              <a:t>03/09/2026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E611B9-76C0-427B-0E5E-9A59ABE01D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A8511-617F-E238-672E-06D8FFF5D6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3EEC7-010A-48E6-9D80-6D1DC8F7E6A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874368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- Project2_GD1305_Endless_Zombie_Report_EN.pdf (user-provided report)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- GD1305 - Group MoonStone - Presentation Project II.pptx (user-provided structure and visual template)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Slide" type="title">
  <p:cSld name="TITLE">
    <p:bg>
      <p:bgPr>
        <a:gradFill>
          <a:gsLst>
            <a:gs pos="0">
              <a:srgbClr val="002060"/>
            </a:gs>
            <a:gs pos="85000">
              <a:srgbClr val="2F5496"/>
            </a:gs>
            <a:gs pos="91000">
              <a:srgbClr val="3864B2"/>
            </a:gs>
            <a:gs pos="97000">
              <a:srgbClr val="2C4E8C"/>
            </a:gs>
            <a:gs pos="100000">
              <a:srgbClr val="2C4E8C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>
            <a:extLst>
              <a:ext uri="{FF2B5EF4-FFF2-40B4-BE49-F238E27FC236}">
                <a16:creationId xmlns:a16="http://schemas.microsoft.com/office/drawing/2014/main" id="{B614DA65-9282-49F4-A3CD-5E3D58EC4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>
            <a:extLst>
              <a:ext uri="{FF2B5EF4-FFF2-40B4-BE49-F238E27FC236}">
                <a16:creationId xmlns:a16="http://schemas.microsoft.com/office/drawing/2014/main" id="{81387E6B-ABE4-403A-B6CD-6657848A4D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17">
            <a:extLst>
              <a:ext uri="{FF2B5EF4-FFF2-40B4-BE49-F238E27FC236}">
                <a16:creationId xmlns:a16="http://schemas.microsoft.com/office/drawing/2014/main" id="{633781FD-8AF5-4CA5-B1CF-087BFBC4245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6" name="Google Shape;21;p17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8218" y="278924"/>
            <a:ext cx="3780000" cy="693000"/>
          </a:xfrm>
          <a:prstGeom prst="rect">
            <a:avLst/>
          </a:prstGeom>
          <a:ln>
            <a:noFill/>
          </a:ln>
        </p:spPr>
      </p:pic>
      <p:pic>
        <p:nvPicPr>
          <p:cNvPr id="27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262" y="274638"/>
            <a:ext cx="3975100" cy="596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>
            <a:extLst>
              <a:ext uri="{FF2B5EF4-FFF2-40B4-BE49-F238E27FC236}">
                <a16:creationId xmlns:a16="http://schemas.microsoft.com/office/drawing/2014/main" id="{04332267-7CFF-4D87-88B4-B6D82DA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301"/>
            <a:ext cx="10515600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Helvetica Neue"/>
              <a:buNone/>
              <a:defRPr sz="37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</a:defRPr>
            </a:lvl9pPr>
          </a:lstStyle>
          <a:p>
            <a:endParaRPr/>
          </a:p>
        </p:txBody>
      </p:sp>
      <p:sp>
        <p:nvSpPr>
          <p:cNvPr id="24" name="Google Shape;24;p18">
            <a:extLst>
              <a:ext uri="{FF2B5EF4-FFF2-40B4-BE49-F238E27FC236}">
                <a16:creationId xmlns:a16="http://schemas.microsoft.com/office/drawing/2014/main" id="{0B4187E2-C4C9-48A7-94AF-AEEF66270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74057"/>
            <a:ext cx="10515600" cy="512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Helvetica Neue"/>
              <a:buChar char="•"/>
              <a:defRPr>
                <a:solidFill>
                  <a:srgbClr val="002060"/>
                </a:solidFill>
                <a:latin typeface="Helvetica Neue"/>
                <a:ea typeface="Helvetica Neue"/>
                <a:cs typeface="Helvetica Neue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Helvetica Neue"/>
              <a:buChar char="•"/>
              <a:defRPr>
                <a:solidFill>
                  <a:srgbClr val="002060"/>
                </a:solidFill>
                <a:latin typeface="Helvetica Neue"/>
                <a:ea typeface="Helvetica Neue"/>
                <a:cs typeface="Helvetica Neue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Helvetica Neue"/>
              <a:buChar char="•"/>
              <a:defRPr>
                <a:solidFill>
                  <a:srgbClr val="002060"/>
                </a:solidFill>
                <a:latin typeface="Helvetica Neue"/>
                <a:ea typeface="Helvetica Neue"/>
                <a:cs typeface="Helvetica Neue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Helvetica Neue"/>
              <a:buChar char="•"/>
              <a:defRPr>
                <a:solidFill>
                  <a:srgbClr val="002060"/>
                </a:solidFill>
                <a:latin typeface="Helvetica Neue"/>
                <a:ea typeface="Helvetica Neue"/>
                <a:cs typeface="Helvetica Neue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Helvetica Neue"/>
              <a:buChar char="•"/>
              <a:defRPr>
                <a:solidFill>
                  <a:srgbClr val="002060"/>
                </a:solidFill>
                <a:latin typeface="Helvetica Neue"/>
                <a:ea typeface="Helvetica Neue"/>
                <a:cs typeface="Helvetica Neue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</a:defRPr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</a:defRPr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</a:defRPr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</a:defRPr>
            </a:lvl9pPr>
          </a:lstStyle>
          <a:p>
            <a:endParaRPr/>
          </a:p>
        </p:txBody>
      </p:sp>
      <p:sp>
        <p:nvSpPr>
          <p:cNvPr id="25" name="Google Shape;25;p18">
            <a:extLst>
              <a:ext uri="{FF2B5EF4-FFF2-40B4-BE49-F238E27FC236}">
                <a16:creationId xmlns:a16="http://schemas.microsoft.com/office/drawing/2014/main" id="{1F2DB235-3557-4C06-9C06-95D11517336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00340" y="6356350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6" name="Google Shape;26;p18">
            <a:extLst>
              <a:ext uri="{FF2B5EF4-FFF2-40B4-BE49-F238E27FC236}">
                <a16:creationId xmlns:a16="http://schemas.microsoft.com/office/drawing/2014/main" id="{1FF59A48-C1E1-4DCC-BCAA-68E100A8ED8C}"/>
              </a:ext>
            </a:extLst>
          </p:cNvPr>
          <p:cNvSpPr>
            <a:spLocks noGrp="1"/>
          </p:cNvSpPr>
          <p:nvPr/>
        </p:nvSpPr>
        <p:spPr>
          <a:xfrm>
            <a:off x="3102600" y="6488700"/>
            <a:ext cx="598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i="1" dirty="0">
                <a:solidFill>
                  <a:srgbClr val="888888"/>
                </a:solidFill>
                <a:latin typeface="Helvetica Neue"/>
                <a:ea typeface="Helvetica Neue"/>
                <a:cs typeface="Helvetica Neue"/>
              </a:rPr>
              <a:t>Team </a:t>
            </a:r>
            <a:r>
              <a:rPr sz="1200" i="1" dirty="0" err="1">
                <a:solidFill>
                  <a:srgbClr val="888888"/>
                </a:solidFill>
                <a:latin typeface="Helvetica Neue"/>
                <a:ea typeface="Helvetica Neue"/>
                <a:cs typeface="Helvetica Neue"/>
              </a:rPr>
              <a:t>MoonStone</a:t>
            </a:r>
            <a:r>
              <a:rPr sz="1200" i="1" dirty="0">
                <a:solidFill>
                  <a:srgbClr val="888888"/>
                </a:solidFill>
                <a:latin typeface="Helvetica Neue"/>
                <a:ea typeface="Helvetica Neue"/>
                <a:cs typeface="Helvetica Neue"/>
              </a:rPr>
              <a:t> – </a:t>
            </a:r>
            <a:r>
              <a:rPr lang="vi-VN" sz="1200" i="1" dirty="0">
                <a:solidFill>
                  <a:srgbClr val="888888"/>
                </a:solidFill>
                <a:latin typeface="Helvetica Neue"/>
                <a:ea typeface="Helvetica Neue"/>
                <a:cs typeface="Helvetica Neue"/>
              </a:rPr>
              <a:t>Endless Zombie</a:t>
            </a:r>
            <a:endParaRPr sz="1200" i="1" dirty="0">
              <a:solidFill>
                <a:srgbClr val="888888"/>
              </a:solidFill>
              <a:latin typeface="Helvetica Neue"/>
              <a:ea typeface="Helvetica Neue"/>
              <a:cs typeface="Helvetica Neu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>
            <a:extLst>
              <a:ext uri="{FF2B5EF4-FFF2-40B4-BE49-F238E27FC236}">
                <a16:creationId xmlns:a16="http://schemas.microsoft.com/office/drawing/2014/main" id="{E5D902DC-DF84-4F06-A791-0D62C80EC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Calibri"/>
              <a:buNone/>
              <a:defRPr sz="6000">
                <a:solidFill>
                  <a:srgbClr val="00206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>
            <a:extLst>
              <a:ext uri="{FF2B5EF4-FFF2-40B4-BE49-F238E27FC236}">
                <a16:creationId xmlns:a16="http://schemas.microsoft.com/office/drawing/2014/main" id="{2136C0DC-FB77-4C0E-999A-2614673FE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>
                <a:solidFill>
                  <a:srgbClr val="002060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>
            <a:extLst>
              <a:ext uri="{FF2B5EF4-FFF2-40B4-BE49-F238E27FC236}">
                <a16:creationId xmlns:a16="http://schemas.microsoft.com/office/drawing/2014/main" id="{EBBA5865-BA56-4865-93E2-39BAFEA1141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64028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>
            <a:extLst>
              <a:ext uri="{FF2B5EF4-FFF2-40B4-BE49-F238E27FC236}">
                <a16:creationId xmlns:a16="http://schemas.microsoft.com/office/drawing/2014/main" id="{CFE371F2-A9F5-4410-86C1-3C1E9D4618A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>
            <a:extLst>
              <a:ext uri="{FF2B5EF4-FFF2-40B4-BE49-F238E27FC236}">
                <a16:creationId xmlns:a16="http://schemas.microsoft.com/office/drawing/2014/main" id="{544D2A31-D862-4700-94B0-307882D1AD8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14856" y="6356350"/>
            <a:ext cx="133894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>
            <a:extLst>
              <a:ext uri="{FF2B5EF4-FFF2-40B4-BE49-F238E27FC236}">
                <a16:creationId xmlns:a16="http://schemas.microsoft.com/office/drawing/2014/main" id="{E96A8258-65CA-44F1-B8EB-4D0220844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042"/>
            <a:ext cx="105156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>
            <a:extLst>
              <a:ext uri="{FF2B5EF4-FFF2-40B4-BE49-F238E27FC236}">
                <a16:creationId xmlns:a16="http://schemas.microsoft.com/office/drawing/2014/main" id="{D5F43ABB-EC55-43E5-9313-F27D6B876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92429"/>
            <a:ext cx="5181600" cy="5084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>
                <a:solidFill>
                  <a:srgbClr val="002060"/>
                </a:solidFill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>
                <a:solidFill>
                  <a:srgbClr val="002060"/>
                </a:solidFill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>
                <a:solidFill>
                  <a:srgbClr val="002060"/>
                </a:solidFill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0">
            <a:extLst>
              <a:ext uri="{FF2B5EF4-FFF2-40B4-BE49-F238E27FC236}">
                <a16:creationId xmlns:a16="http://schemas.microsoft.com/office/drawing/2014/main" id="{017A6266-DCE4-425D-B287-50D1FD48BAA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092429"/>
            <a:ext cx="5181600" cy="5084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>
                <a:solidFill>
                  <a:srgbClr val="002060"/>
                </a:solidFill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>
                <a:solidFill>
                  <a:srgbClr val="002060"/>
                </a:solidFill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>
                <a:solidFill>
                  <a:srgbClr val="002060"/>
                </a:solidFill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0">
            <a:extLst>
              <a:ext uri="{FF2B5EF4-FFF2-40B4-BE49-F238E27FC236}">
                <a16:creationId xmlns:a16="http://schemas.microsoft.com/office/drawing/2014/main" id="{740C23FA-64F7-4EFA-9D5D-0CF0A686F56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>
            <a:extLst>
              <a:ext uri="{FF2B5EF4-FFF2-40B4-BE49-F238E27FC236}">
                <a16:creationId xmlns:a16="http://schemas.microsoft.com/office/drawing/2014/main" id="{E12B20AD-0906-4B3D-A1EA-F9A6ACE9F1F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>
            <a:extLst>
              <a:ext uri="{FF2B5EF4-FFF2-40B4-BE49-F238E27FC236}">
                <a16:creationId xmlns:a16="http://schemas.microsoft.com/office/drawing/2014/main" id="{551DC620-2BA1-4579-9DF0-E946098E424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>
            <a:extLst>
              <a:ext uri="{FF2B5EF4-FFF2-40B4-BE49-F238E27FC236}">
                <a16:creationId xmlns:a16="http://schemas.microsoft.com/office/drawing/2014/main" id="{F416E3A7-4D88-4998-A74D-4BA7D4B22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63527"/>
            <a:ext cx="10515600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>
            <a:extLst>
              <a:ext uri="{FF2B5EF4-FFF2-40B4-BE49-F238E27FC236}">
                <a16:creationId xmlns:a16="http://schemas.microsoft.com/office/drawing/2014/main" id="{3F6279DE-9E06-4279-BC64-46180CF9D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97884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>
            <a:extLst>
              <a:ext uri="{FF2B5EF4-FFF2-40B4-BE49-F238E27FC236}">
                <a16:creationId xmlns:a16="http://schemas.microsoft.com/office/drawing/2014/main" id="{708BB504-B0A3-47BB-905E-AAAC3AC7C2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21796"/>
            <a:ext cx="5157787" cy="416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>
            <a:extLst>
              <a:ext uri="{FF2B5EF4-FFF2-40B4-BE49-F238E27FC236}">
                <a16:creationId xmlns:a16="http://schemas.microsoft.com/office/drawing/2014/main" id="{AF3D8D2F-9667-4DCB-9952-58DCEDA1007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4427" y="1197884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>
            <a:extLst>
              <a:ext uri="{FF2B5EF4-FFF2-40B4-BE49-F238E27FC236}">
                <a16:creationId xmlns:a16="http://schemas.microsoft.com/office/drawing/2014/main" id="{68D724B2-315D-4685-BC0C-09085D7C04C6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72200" y="2021796"/>
            <a:ext cx="5183188" cy="416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1">
            <a:extLst>
              <a:ext uri="{FF2B5EF4-FFF2-40B4-BE49-F238E27FC236}">
                <a16:creationId xmlns:a16="http://schemas.microsoft.com/office/drawing/2014/main" id="{800A2A43-3A95-4ECB-B6CB-FB75B6B4802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>
            <a:extLst>
              <a:ext uri="{FF2B5EF4-FFF2-40B4-BE49-F238E27FC236}">
                <a16:creationId xmlns:a16="http://schemas.microsoft.com/office/drawing/2014/main" id="{8C70C954-4EDD-415B-BC20-37265A6850A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>
            <a:extLst>
              <a:ext uri="{FF2B5EF4-FFF2-40B4-BE49-F238E27FC236}">
                <a16:creationId xmlns:a16="http://schemas.microsoft.com/office/drawing/2014/main" id="{9B77718D-C493-4844-8C2A-410D4C45DDD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>
            <a:extLst>
              <a:ext uri="{FF2B5EF4-FFF2-40B4-BE49-F238E27FC236}">
                <a16:creationId xmlns:a16="http://schemas.microsoft.com/office/drawing/2014/main" id="{2E79E7B3-B704-430E-833A-E4D47CA92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955"/>
            <a:ext cx="10515600" cy="677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>
            <a:extLst>
              <a:ext uri="{FF2B5EF4-FFF2-40B4-BE49-F238E27FC236}">
                <a16:creationId xmlns:a16="http://schemas.microsoft.com/office/drawing/2014/main" id="{5E1E20ED-CA9B-4412-AEBF-7C57B986486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>
            <a:extLst>
              <a:ext uri="{FF2B5EF4-FFF2-40B4-BE49-F238E27FC236}">
                <a16:creationId xmlns:a16="http://schemas.microsoft.com/office/drawing/2014/main" id="{669EBBED-054E-4E02-819A-01D73F78629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>
            <a:extLst>
              <a:ext uri="{FF2B5EF4-FFF2-40B4-BE49-F238E27FC236}">
                <a16:creationId xmlns:a16="http://schemas.microsoft.com/office/drawing/2014/main" id="{5926103D-7E8E-4CAE-861F-1DBE5B39E9C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>
            <a:extLst>
              <a:ext uri="{FF2B5EF4-FFF2-40B4-BE49-F238E27FC236}">
                <a16:creationId xmlns:a16="http://schemas.microsoft.com/office/drawing/2014/main" id="{812CAD9E-A9F3-45C1-A05C-F2AA0C10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>
            <a:extLst>
              <a:ext uri="{FF2B5EF4-FFF2-40B4-BE49-F238E27FC236}">
                <a16:creationId xmlns:a16="http://schemas.microsoft.com/office/drawing/2014/main" id="{700C6F87-CD08-484D-B7A7-6829D232A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43344" y="987425"/>
            <a:ext cx="6408867" cy="521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>
            <a:extLst>
              <a:ext uri="{FF2B5EF4-FFF2-40B4-BE49-F238E27FC236}">
                <a16:creationId xmlns:a16="http://schemas.microsoft.com/office/drawing/2014/main" id="{4E03E428-0591-426C-BB3B-950A2469133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41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>
            <a:extLst>
              <a:ext uri="{FF2B5EF4-FFF2-40B4-BE49-F238E27FC236}">
                <a16:creationId xmlns:a16="http://schemas.microsoft.com/office/drawing/2014/main" id="{C23AEBBD-ABB5-41AB-9A1E-B1338A496FE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>
            <a:extLst>
              <a:ext uri="{FF2B5EF4-FFF2-40B4-BE49-F238E27FC236}">
                <a16:creationId xmlns:a16="http://schemas.microsoft.com/office/drawing/2014/main" id="{DC95C7D3-30E1-4CD9-A76D-12BA6CAD6B6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>
            <a:extLst>
              <a:ext uri="{FF2B5EF4-FFF2-40B4-BE49-F238E27FC236}">
                <a16:creationId xmlns:a16="http://schemas.microsoft.com/office/drawing/2014/main" id="{4BE3D24A-9ED8-478A-BD58-455A9A6EBED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>
            <a:extLst>
              <a:ext uri="{FF2B5EF4-FFF2-40B4-BE49-F238E27FC236}">
                <a16:creationId xmlns:a16="http://schemas.microsoft.com/office/drawing/2014/main" id="{0275F722-E08C-4CA3-8CD6-722FB94B7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>
            <a:extLst>
              <a:ext uri="{FF2B5EF4-FFF2-40B4-BE49-F238E27FC236}">
                <a16:creationId xmlns:a16="http://schemas.microsoft.com/office/drawing/2014/main" id="{B74F9310-764F-4ECE-A5CB-ECACDDD1E6C7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520351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>
            <a:extLst>
              <a:ext uri="{FF2B5EF4-FFF2-40B4-BE49-F238E27FC236}">
                <a16:creationId xmlns:a16="http://schemas.microsoft.com/office/drawing/2014/main" id="{B2356A44-1B05-4957-BF51-616398F30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57400"/>
            <a:ext cx="3932237" cy="413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>
            <a:extLst>
              <a:ext uri="{FF2B5EF4-FFF2-40B4-BE49-F238E27FC236}">
                <a16:creationId xmlns:a16="http://schemas.microsoft.com/office/drawing/2014/main" id="{9293040D-DB75-49C7-9FE5-A97308167FA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>
            <a:extLst>
              <a:ext uri="{FF2B5EF4-FFF2-40B4-BE49-F238E27FC236}">
                <a16:creationId xmlns:a16="http://schemas.microsoft.com/office/drawing/2014/main" id="{52764B26-12A4-4FF7-8EA3-218A142741C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>
            <a:extLst>
              <a:ext uri="{FF2B5EF4-FFF2-40B4-BE49-F238E27FC236}">
                <a16:creationId xmlns:a16="http://schemas.microsoft.com/office/drawing/2014/main" id="{C890E762-2438-47EB-9783-BB0A7FBE46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>
            <a:extLst>
              <a:ext uri="{FF2B5EF4-FFF2-40B4-BE49-F238E27FC236}">
                <a16:creationId xmlns:a16="http://schemas.microsoft.com/office/drawing/2014/main" id="{81616D86-E82F-4AE5-B859-72C829ADA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955"/>
            <a:ext cx="10515600" cy="677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>
            <a:extLst>
              <a:ext uri="{FF2B5EF4-FFF2-40B4-BE49-F238E27FC236}">
                <a16:creationId xmlns:a16="http://schemas.microsoft.com/office/drawing/2014/main" id="{CA109D38-67C6-4034-8D4C-3DB29A77D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3525141" y="-1631060"/>
            <a:ext cx="514171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>
            <a:extLst>
              <a:ext uri="{FF2B5EF4-FFF2-40B4-BE49-F238E27FC236}">
                <a16:creationId xmlns:a16="http://schemas.microsoft.com/office/drawing/2014/main" id="{56DB313F-037C-4891-8C9A-2CBA113DD3D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>
            <a:extLst>
              <a:ext uri="{FF2B5EF4-FFF2-40B4-BE49-F238E27FC236}">
                <a16:creationId xmlns:a16="http://schemas.microsoft.com/office/drawing/2014/main" id="{BEBF83CE-445A-450F-BE1B-1949D8F73E2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>
            <a:extLst>
              <a:ext uri="{FF2B5EF4-FFF2-40B4-BE49-F238E27FC236}">
                <a16:creationId xmlns:a16="http://schemas.microsoft.com/office/drawing/2014/main" id="{B6A4BAAD-1725-47DA-93E0-A67DC2856BB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ustom Layout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>
            <a:extLst>
              <a:ext uri="{FF2B5EF4-FFF2-40B4-BE49-F238E27FC236}">
                <a16:creationId xmlns:a16="http://schemas.microsoft.com/office/drawing/2014/main" id="{30753038-D9AD-4F40-AD49-88A72B8FE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955"/>
            <a:ext cx="10515600" cy="677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>
            <a:extLst>
              <a:ext uri="{FF2B5EF4-FFF2-40B4-BE49-F238E27FC236}">
                <a16:creationId xmlns:a16="http://schemas.microsoft.com/office/drawing/2014/main" id="{65083984-9A5A-4125-B4B0-E3AF299E586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>
            <a:extLst>
              <a:ext uri="{FF2B5EF4-FFF2-40B4-BE49-F238E27FC236}">
                <a16:creationId xmlns:a16="http://schemas.microsoft.com/office/drawing/2014/main" id="{501795FB-51AD-48A1-A33C-C4E0B4DCA5A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>
            <a:extLst>
              <a:ext uri="{FF2B5EF4-FFF2-40B4-BE49-F238E27FC236}">
                <a16:creationId xmlns:a16="http://schemas.microsoft.com/office/drawing/2014/main" id="{1154937A-E02B-492D-878D-82B75A7E9D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Custom Layout">
  <p:cSld name="1_Custom Layout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7">
            <a:extLst>
              <a:ext uri="{FF2B5EF4-FFF2-40B4-BE49-F238E27FC236}">
                <a16:creationId xmlns:a16="http://schemas.microsoft.com/office/drawing/2014/main" id="{44288BBF-56A2-480C-9C4F-10BB6A908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955"/>
            <a:ext cx="10515600" cy="677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7">
            <a:extLst>
              <a:ext uri="{FF2B5EF4-FFF2-40B4-BE49-F238E27FC236}">
                <a16:creationId xmlns:a16="http://schemas.microsoft.com/office/drawing/2014/main" id="{AD538F5A-B86C-4548-9769-A14B61E6253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>
            <a:extLst>
              <a:ext uri="{FF2B5EF4-FFF2-40B4-BE49-F238E27FC236}">
                <a16:creationId xmlns:a16="http://schemas.microsoft.com/office/drawing/2014/main" id="{45C09C2D-0244-45E5-843A-AD327AABCC1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>
            <a:extLst>
              <a:ext uri="{FF2B5EF4-FFF2-40B4-BE49-F238E27FC236}">
                <a16:creationId xmlns:a16="http://schemas.microsoft.com/office/drawing/2014/main" id="{A537EEBE-119E-4449-A4E2-BFEB2AF732B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0;p16"/>
          <p:cNvPicPr>
            <a:picLocks noChangeAspect="1"/>
          </p:cNvPicPr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7315" y="345287"/>
            <a:ext cx="12192000" cy="475488"/>
          </a:xfrm>
          <a:prstGeom prst="rect">
            <a:avLst/>
          </a:prstGeom>
          <a:ln>
            <a:noFill/>
          </a:ln>
        </p:spPr>
      </p:pic>
      <p:sp>
        <p:nvSpPr>
          <p:cNvPr id="11" name="Google Shape;11;p16">
            <a:extLst>
              <a:ext uri="{FF2B5EF4-FFF2-40B4-BE49-F238E27FC236}">
                <a16:creationId xmlns:a16="http://schemas.microsoft.com/office/drawing/2014/main" id="{AB3DF4CE-BBDD-4158-8C52-DC7636FAF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955"/>
            <a:ext cx="10515600" cy="677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sz="28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6">
            <a:extLst>
              <a:ext uri="{FF2B5EF4-FFF2-40B4-BE49-F238E27FC236}">
                <a16:creationId xmlns:a16="http://schemas.microsoft.com/office/drawing/2014/main" id="{AE84C747-02F4-4716-83B4-9E11481E7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55881"/>
            <a:ext cx="10515600" cy="514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  <a:defRPr sz="2800" b="0" i="0" u="none" cap="none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  <a:defRPr sz="2400" b="0" i="0" u="none" cap="none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  <a:defRPr sz="2000" b="0" i="0" u="none" cap="none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  <a:defRPr sz="1800" b="0" i="0" u="none" cap="none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  <a:defRPr sz="1800" b="0" i="0" u="none" cap="none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13" name="Google Shape;13;p16">
            <a:extLst>
              <a:ext uri="{FF2B5EF4-FFF2-40B4-BE49-F238E27FC236}">
                <a16:creationId xmlns:a16="http://schemas.microsoft.com/office/drawing/2014/main" id="{67BE304C-F0A9-47C3-9A2C-A88C20D9E15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14" name="Google Shape;14;p16">
            <a:extLst>
              <a:ext uri="{FF2B5EF4-FFF2-40B4-BE49-F238E27FC236}">
                <a16:creationId xmlns:a16="http://schemas.microsoft.com/office/drawing/2014/main" id="{A294E18B-AFD9-4191-85C2-2E622DD6DA3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15" name="Google Shape;15;p16">
            <a:extLst>
              <a:ext uri="{FF2B5EF4-FFF2-40B4-BE49-F238E27FC236}">
                <a16:creationId xmlns:a16="http://schemas.microsoft.com/office/drawing/2014/main" id="{9C7E81AA-214A-4A41-8771-8DC123A3598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4" name="Picture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5128" y="345235"/>
            <a:ext cx="2880000" cy="4320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85000">
              <a:srgbClr val="2F5496"/>
            </a:gs>
            <a:gs pos="91000">
              <a:srgbClr val="3864B2"/>
            </a:gs>
            <a:gs pos="97000">
              <a:srgbClr val="2C4E8C"/>
            </a:gs>
            <a:gs pos="100000">
              <a:srgbClr val="2C4E8C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CC9E0D59-9755-4717-A955-B68AA7EBA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566" y="1214438"/>
            <a:ext cx="10986868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"/>
              <a:buNone/>
            </a:pPr>
            <a:r>
              <a:rPr b="1">
                <a:latin typeface="+mj-lt"/>
                <a:ea typeface="+mj-lt"/>
                <a:cs typeface="+mj-lt"/>
              </a:rPr>
              <a:t>ENDLESS ZOMBIE</a:t>
            </a:r>
            <a:endParaRPr sz="4800" b="1">
              <a:latin typeface="+mj-lt"/>
              <a:ea typeface="+mj-lt"/>
              <a:cs typeface="+mj-lt"/>
            </a:endParaRPr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0F1EE92B-10E9-41F9-8A26-EF592C7F6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566" y="3987800"/>
            <a:ext cx="1098686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>
                <a:latin typeface="+mj-lt"/>
                <a:ea typeface="+mj-lt"/>
                <a:cs typeface="+mj-lt"/>
              </a:rPr>
              <a:t>Class Name: GD1305</a:t>
            </a:r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>
                <a:latin typeface="+mj-lt"/>
                <a:ea typeface="+mj-lt"/>
                <a:cs typeface="+mj-lt"/>
              </a:rPr>
              <a:t>Project II Presentation</a:t>
            </a:r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>
                <a:latin typeface="+mj-lt"/>
                <a:ea typeface="+mj-lt"/>
                <a:cs typeface="+mj-lt"/>
              </a:rPr>
              <a:t>Members: Vu Viet Tien &amp; Chu Van Thai</a:t>
            </a:r>
          </a:p>
        </p:txBody>
      </p:sp>
    </p:spTree>
    <p:extLst>
      <p:ext uri="{BB962C8B-B14F-4D97-AF65-F5344CB8AC3E}">
        <p14:creationId xmlns:p14="http://schemas.microsoft.com/office/powerpoint/2010/main" val="1868517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9D7BE472-AA18-405D-AAFB-CCC705CB5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OBJECTIVES</a:t>
            </a:r>
          </a:p>
        </p:txBody>
      </p:sp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7A226821-2662-4B61-AFC1-C477B507D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66675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+mj-lt"/>
              <a:buAutoNum type="romanUcPeriod"/>
            </a:pPr>
            <a:r>
              <a:rPr sz="2400" b="1" dirty="0">
                <a:latin typeface="+mn-lt"/>
                <a:ea typeface="+mn-lt"/>
                <a:cs typeface="+mn-lt"/>
              </a:rPr>
              <a:t>Project Introduction</a:t>
            </a:r>
          </a:p>
          <a:p>
            <a:pPr marL="66675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+mj-lt"/>
              <a:buAutoNum type="romanUcPeriod"/>
            </a:pPr>
            <a:r>
              <a:rPr sz="2400" b="1" dirty="0">
                <a:latin typeface="+mn-lt"/>
                <a:ea typeface="+mn-lt"/>
                <a:cs typeface="+mn-lt"/>
              </a:rPr>
              <a:t>Analyze System Requirements</a:t>
            </a:r>
          </a:p>
          <a:p>
            <a:pPr marL="66675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+mj-lt"/>
              <a:buAutoNum type="romanUcPeriod"/>
            </a:pPr>
            <a:r>
              <a:rPr sz="2400" b="1" dirty="0">
                <a:latin typeface="+mn-lt"/>
                <a:ea typeface="+mn-lt"/>
                <a:cs typeface="+mn-lt"/>
              </a:rPr>
              <a:t>Design Details</a:t>
            </a:r>
          </a:p>
          <a:p>
            <a:pPr marL="66675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+mj-lt"/>
              <a:buAutoNum type="romanUcPeriod"/>
            </a:pPr>
            <a:r>
              <a:rPr sz="2400" b="1" dirty="0">
                <a:latin typeface="+mn-lt"/>
                <a:ea typeface="+mn-lt"/>
                <a:cs typeface="+mn-lt"/>
              </a:rPr>
              <a:t>Test</a:t>
            </a:r>
          </a:p>
          <a:p>
            <a:pPr marL="666750" indent="-514350">
              <a:lnSpc>
                <a:spcPct val="200000"/>
              </a:lnSpc>
              <a:spcBef>
                <a:spcPts val="0"/>
              </a:spcBef>
              <a:buSzPts val="2400"/>
              <a:buFont typeface="+mj-lt"/>
              <a:buAutoNum type="romanUcPeriod"/>
            </a:pPr>
            <a:r>
              <a:rPr b="1" dirty="0">
                <a:latin typeface="+mn-lt"/>
                <a:ea typeface="+mn-lt"/>
                <a:cs typeface="+mn-lt"/>
              </a:rPr>
              <a:t>Installation Instructions</a:t>
            </a: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A7148FB-958D-4406-AC2C-713AB5B3E5B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8601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E485F0CB-DE6C-40B3-95B7-592E2E811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Project Introduction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666673B-851E-4BA0-8561-15ED02F0B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730" y="1074057"/>
            <a:ext cx="6355353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495300" indent="-34290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r>
              <a:rPr sz="2400" dirty="0">
                <a:latin typeface="+mn-lt"/>
                <a:ea typeface="+mn-lt"/>
                <a:cs typeface="+mn-lt"/>
              </a:rPr>
              <a:t>Project Name: Endless Zombie</a:t>
            </a:r>
          </a:p>
          <a:p>
            <a:pPr marL="152400" indent="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endParaRPr sz="2400" dirty="0">
              <a:latin typeface="+mn-lt"/>
              <a:ea typeface="+mn-lt"/>
              <a:cs typeface="+mn-lt"/>
            </a:endParaRPr>
          </a:p>
          <a:p>
            <a:pPr marL="495300" indent="-34290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r>
              <a:rPr sz="2400" dirty="0">
                <a:latin typeface="+mn-lt"/>
                <a:ea typeface="+mn-lt"/>
                <a:cs typeface="+mn-lt"/>
              </a:rPr>
              <a:t>Project Description:</a:t>
            </a:r>
          </a:p>
          <a:p>
            <a:pPr marL="952500" lvl="1" indent="-342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sz="2000" i="1" dirty="0"/>
              <a:t>Endless Zombie is a third-person survival shooter built with Unity. The player survives escalating enemy waves, switches weapons, gains EXP and gold, and selects upgrades during each run.</a:t>
            </a:r>
            <a:endParaRPr sz="2000" dirty="0"/>
          </a:p>
          <a:p>
            <a:pPr marL="952500" lvl="1" indent="-342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endParaRPr sz="2000" dirty="0"/>
          </a:p>
          <a:p>
            <a:pPr marL="952500" lvl="1" indent="-342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sz="2000" dirty="0"/>
              <a:t>Objective: survive as long as possible while managing weapons, upgrades, and enemy pressure.</a:t>
            </a:r>
          </a:p>
        </p:txBody>
      </p:sp>
      <p:sp>
        <p:nvSpPr>
          <p:cNvPr id="106" name="Google Shape;106;p3">
            <a:extLst>
              <a:ext uri="{FF2B5EF4-FFF2-40B4-BE49-F238E27FC236}">
                <a16:creationId xmlns:a16="http://schemas.microsoft.com/office/drawing/2014/main" id="{90BADFBF-323E-4A39-AE4D-F19CE9F87F3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8117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>
            <a:extLst>
              <a:ext uri="{FF2B5EF4-FFF2-40B4-BE49-F238E27FC236}">
                <a16:creationId xmlns:a16="http://schemas.microsoft.com/office/drawing/2014/main" id="{C8450DC4-DF1E-40F4-BC2A-B095838F4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Arial"/>
                <a:ea typeface="Arial"/>
                <a:cs typeface="Arial"/>
              </a:rPr>
              <a:t>Project Introduction</a:t>
            </a:r>
          </a:p>
        </p:txBody>
      </p:sp>
      <p:sp>
        <p:nvSpPr>
          <p:cNvPr id="113" name="Google Shape;113;p4">
            <a:extLst>
              <a:ext uri="{FF2B5EF4-FFF2-40B4-BE49-F238E27FC236}">
                <a16:creationId xmlns:a16="http://schemas.microsoft.com/office/drawing/2014/main" id="{9A301A48-F8FC-4255-B451-901AE0DC4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495300" indent="-34290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endParaRPr sz="2400" dirty="0"/>
          </a:p>
          <a:p>
            <a:pPr marL="495300" indent="-34290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endParaRPr sz="2400" dirty="0"/>
          </a:p>
          <a:p>
            <a:pPr marL="495300" indent="-34290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r>
              <a:rPr sz="2400" dirty="0"/>
              <a:t>Core Gameplay</a:t>
            </a:r>
          </a:p>
          <a:p>
            <a:pPr marL="952500" lvl="1" indent="-342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sz="2000" b="1" dirty="0"/>
              <a:t>Defeat enemies to collect EXP and gold.</a:t>
            </a:r>
          </a:p>
          <a:p>
            <a:pPr marL="952500" lvl="1" indent="-342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sz="2000" b="1" dirty="0"/>
              <a:t>Choose upgrades when leveling up.</a:t>
            </a:r>
            <a:endParaRPr lang="en-GB" sz="2000" b="1" dirty="0"/>
          </a:p>
          <a:p>
            <a:pPr marL="952500" lvl="1" indent="-342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n-US" sz="2000" b="1" dirty="0">
                <a:latin typeface="Helvetica Neue" panose="020B0604020202020204" charset="0"/>
                <a:ea typeface="+mn-lt"/>
                <a:cs typeface="+mn-lt"/>
              </a:rPr>
              <a:t>Buy and upgrade stats each run.</a:t>
            </a:r>
            <a:endParaRPr sz="2000" b="1" dirty="0">
              <a:latin typeface="Helvetica Neue" panose="020B0604020202020204" charset="0"/>
              <a:ea typeface="+mn-lt"/>
              <a:cs typeface="+mn-lt"/>
            </a:endParaRPr>
          </a:p>
          <a:p>
            <a:pPr marL="952500" lvl="1" indent="-342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sz="2000" b="1" dirty="0"/>
              <a:t>Enemy waves become increasingly difficult.</a:t>
            </a:r>
            <a:endParaRPr sz="2000" dirty="0">
              <a:latin typeface="+mn-lt"/>
              <a:ea typeface="+mn-lt"/>
              <a:cs typeface="+mn-lt"/>
            </a:endParaRPr>
          </a:p>
        </p:txBody>
      </p:sp>
      <p:sp>
        <p:nvSpPr>
          <p:cNvPr id="114" name="Google Shape;114;p4">
            <a:extLst>
              <a:ext uri="{FF2B5EF4-FFF2-40B4-BE49-F238E27FC236}">
                <a16:creationId xmlns:a16="http://schemas.microsoft.com/office/drawing/2014/main" id="{1B7D24B4-6692-4152-AE12-86D4FA1678E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5811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>
            <a:extLst>
              <a:ext uri="{FF2B5EF4-FFF2-40B4-BE49-F238E27FC236}">
                <a16:creationId xmlns:a16="http://schemas.microsoft.com/office/drawing/2014/main" id="{7B30F412-9058-2F16-0F2C-B801A3F77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Arial"/>
                <a:ea typeface="Arial"/>
                <a:cs typeface="Arial"/>
              </a:rPr>
              <a:t>Project Introduction</a:t>
            </a:r>
          </a:p>
        </p:txBody>
      </p:sp>
      <p:sp>
        <p:nvSpPr>
          <p:cNvPr id="113" name="Google Shape;113;p4">
            <a:extLst>
              <a:ext uri="{FF2B5EF4-FFF2-40B4-BE49-F238E27FC236}">
                <a16:creationId xmlns:a16="http://schemas.microsoft.com/office/drawing/2014/main" id="{D0C7B9C5-523C-3374-B348-4CAA98BC9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495300" indent="-34290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endParaRPr sz="2400"/>
          </a:p>
          <a:p>
            <a:pPr marL="495300" indent="-34290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r>
              <a:rPr sz="2400"/>
              <a:t>Development Tools</a:t>
            </a:r>
          </a:p>
        </p:txBody>
      </p:sp>
      <p:sp>
        <p:nvSpPr>
          <p:cNvPr id="114" name="Google Shape;114;p4">
            <a:extLst>
              <a:ext uri="{FF2B5EF4-FFF2-40B4-BE49-F238E27FC236}">
                <a16:creationId xmlns:a16="http://schemas.microsoft.com/office/drawing/2014/main" id="{92E016BE-E2D3-DED3-2FEE-217BFC69219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5</a:t>
            </a:fld>
            <a:endParaRPr/>
          </a:p>
        </p:txBody>
      </p:sp>
      <p:graphicFrame>
        <p:nvGraphicFramePr>
          <p:cNvPr id="120" name="Table 1"/>
          <p:cNvGraphicFramePr/>
          <p:nvPr/>
        </p:nvGraphicFramePr>
        <p:xfrm>
          <a:off x="181274" y="2548466"/>
          <a:ext cx="76987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2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Unity 6000.3.10f1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Game 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Universal RP 17.3.0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Rendering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Entities / DOTS 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High-volume enemy simulation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Input System 1.18.0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Player input and controls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1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634" y="2764834"/>
            <a:ext cx="3648635" cy="132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60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>
            <a:extLst>
              <a:ext uri="{FF2B5EF4-FFF2-40B4-BE49-F238E27FC236}">
                <a16:creationId xmlns:a16="http://schemas.microsoft.com/office/drawing/2014/main" id="{08C6124E-53A8-4E8F-87BB-EF415C074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lvl="0">
              <a:buSzPts val="2800"/>
              <a:buNone/>
            </a:pPr>
            <a:r>
              <a:t>II. ANALYZE SYSTEM REQUIREMENTS</a:t>
            </a:r>
            <a:endParaRPr sz="3200"/>
          </a:p>
        </p:txBody>
      </p:sp>
      <p:sp>
        <p:nvSpPr>
          <p:cNvPr id="121" name="Google Shape;121;p5">
            <a:extLst>
              <a:ext uri="{FF2B5EF4-FFF2-40B4-BE49-F238E27FC236}">
                <a16:creationId xmlns:a16="http://schemas.microsoft.com/office/drawing/2014/main" id="{126BE12E-1147-4982-9473-2F486B10F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952500" lvl="1" indent="-342900">
              <a:lnSpc>
                <a:spcPct val="120000"/>
              </a:lnSpc>
              <a:spcBef>
                <a:spcPts val="0"/>
              </a:spcBef>
              <a:buNone/>
            </a:pPr>
            <a:endParaRPr sz="2000" dirty="0">
              <a:latin typeface="Arial"/>
              <a:ea typeface="Arial"/>
              <a:cs typeface="Arial"/>
            </a:endParaRPr>
          </a:p>
          <a:p>
            <a:pPr marL="6096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sz="2000" b="1" dirty="0">
                <a:latin typeface="Arial"/>
                <a:ea typeface="Arial"/>
                <a:cs typeface="Arial"/>
              </a:rPr>
              <a:t>System Overview</a:t>
            </a:r>
          </a:p>
          <a:p>
            <a:pPr marL="609600" lvl="1" indent="0">
              <a:lnSpc>
                <a:spcPct val="120000"/>
              </a:lnSpc>
              <a:spcBef>
                <a:spcPts val="0"/>
              </a:spcBef>
              <a:buNone/>
            </a:pPr>
            <a:endParaRPr sz="2000" b="1" dirty="0">
              <a:latin typeface="Arial"/>
              <a:ea typeface="Arial"/>
              <a:cs typeface="Arial"/>
            </a:endParaRPr>
          </a:p>
          <a:p>
            <a:pPr marL="952500" lvl="1" indent="-342900">
              <a:lnSpc>
                <a:spcPct val="120000"/>
              </a:lnSpc>
              <a:spcBef>
                <a:spcPts val="0"/>
              </a:spcBef>
              <a:buNone/>
            </a:pPr>
            <a:r>
              <a:rPr sz="2000" dirty="0">
                <a:latin typeface="Arial"/>
                <a:ea typeface="Arial"/>
                <a:cs typeface="Arial"/>
              </a:rPr>
              <a:t>The project is organized into five main areas:</a:t>
            </a:r>
          </a:p>
          <a:p>
            <a:pPr marL="1409700" lvl="2" indent="-342900">
              <a:lnSpc>
                <a:spcPct val="120000"/>
              </a:lnSpc>
              <a:spcBef>
                <a:spcPts val="0"/>
              </a:spcBef>
              <a:buNone/>
            </a:pPr>
            <a:r>
              <a:rPr sz="1600" dirty="0">
                <a:latin typeface="Arial"/>
                <a:ea typeface="Arial"/>
                <a:cs typeface="Arial"/>
              </a:rPr>
              <a:t>Enemy System - spawning, navigation, collision, animation, and attacks.</a:t>
            </a:r>
          </a:p>
          <a:p>
            <a:pPr marL="1409700" lvl="2" indent="-342900">
              <a:lnSpc>
                <a:spcPct val="120000"/>
              </a:lnSpc>
              <a:spcBef>
                <a:spcPts val="0"/>
              </a:spcBef>
              <a:buNone/>
            </a:pPr>
            <a:r>
              <a:rPr sz="1600" dirty="0">
                <a:latin typeface="Arial"/>
                <a:ea typeface="Arial"/>
                <a:cs typeface="Arial"/>
              </a:rPr>
              <a:t>Wave System - scales difficulty and coordinates spawn timing.</a:t>
            </a:r>
          </a:p>
          <a:p>
            <a:pPr marL="1409700" lvl="2" indent="-342900">
              <a:lnSpc>
                <a:spcPct val="120000"/>
              </a:lnSpc>
              <a:spcBef>
                <a:spcPts val="0"/>
              </a:spcBef>
              <a:buNone/>
            </a:pPr>
            <a:r>
              <a:rPr sz="1600" dirty="0">
                <a:latin typeface="Arial"/>
                <a:ea typeface="Arial"/>
                <a:cs typeface="Arial"/>
              </a:rPr>
              <a:t>Progression - EXP, gold, leveling, and upgrades.</a:t>
            </a:r>
          </a:p>
          <a:p>
            <a:pPr marL="1409700" lvl="2" indent="-342900">
              <a:lnSpc>
                <a:spcPct val="120000"/>
              </a:lnSpc>
              <a:spcBef>
                <a:spcPts val="0"/>
              </a:spcBef>
              <a:buNone/>
            </a:pPr>
            <a:r>
              <a:rPr sz="1600" dirty="0">
                <a:latin typeface="Arial"/>
                <a:ea typeface="Arial"/>
                <a:cs typeface="Arial"/>
              </a:rPr>
              <a:t>Canvas UI - main menu, HUD, settings, and level-up panels.</a:t>
            </a:r>
          </a:p>
        </p:txBody>
      </p:sp>
      <p:sp>
        <p:nvSpPr>
          <p:cNvPr id="122" name="Google Shape;122;p5">
            <a:extLst>
              <a:ext uri="{FF2B5EF4-FFF2-40B4-BE49-F238E27FC236}">
                <a16:creationId xmlns:a16="http://schemas.microsoft.com/office/drawing/2014/main" id="{6E108EC1-6B43-438C-9759-F7403E1C50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8629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>
            <a:extLst>
              <a:ext uri="{FF2B5EF4-FFF2-40B4-BE49-F238E27FC236}">
                <a16:creationId xmlns:a16="http://schemas.microsoft.com/office/drawing/2014/main" id="{4B10ED77-A1BD-4907-BE8E-EEB52F7C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lvl="0">
              <a:buSzPts val="2800"/>
              <a:buNone/>
            </a:pPr>
            <a:r>
              <a:rPr sz="3200"/>
              <a:t>II. ANALYZE SYSTEM REQUIREMENTS</a:t>
            </a:r>
            <a:endParaRPr sz="3200">
              <a:latin typeface="+mj-lt"/>
              <a:ea typeface="+mj-lt"/>
              <a:cs typeface="+mj-lt"/>
            </a:endParaRPr>
          </a:p>
        </p:txBody>
      </p:sp>
      <p:sp>
        <p:nvSpPr>
          <p:cNvPr id="129" name="Google Shape;129;p6">
            <a:extLst>
              <a:ext uri="{FF2B5EF4-FFF2-40B4-BE49-F238E27FC236}">
                <a16:creationId xmlns:a16="http://schemas.microsoft.com/office/drawing/2014/main" id="{ED4A8156-2F66-4BBE-88FA-E5D00D71D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495300" indent="-34290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r>
              <a:rPr sz="2400"/>
              <a:t>Use Case Diagram</a:t>
            </a:r>
          </a:p>
        </p:txBody>
      </p:sp>
      <p:sp>
        <p:nvSpPr>
          <p:cNvPr id="130" name="Google Shape;130;p6">
            <a:extLst>
              <a:ext uri="{FF2B5EF4-FFF2-40B4-BE49-F238E27FC236}">
                <a16:creationId xmlns:a16="http://schemas.microsoft.com/office/drawing/2014/main" id="{3354F3C6-55C1-4272-A844-4382A6E465A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875651-8642-9EE3-D018-3BACBEF92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480" y="1338729"/>
            <a:ext cx="5837994" cy="514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526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>
            <a:extLst>
              <a:ext uri="{FF2B5EF4-FFF2-40B4-BE49-F238E27FC236}">
                <a16:creationId xmlns:a16="http://schemas.microsoft.com/office/drawing/2014/main" id="{24369892-34CE-4CFA-80E9-10EF4B9F7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lvl="0">
              <a:buSzPts val="2800"/>
              <a:buNone/>
            </a:pPr>
            <a:r>
              <a:rPr sz="3200"/>
              <a:t>II. ANALYZE SYSTEM REQUIREMENTS</a:t>
            </a:r>
            <a:endParaRPr sz="3200">
              <a:latin typeface="Arial"/>
              <a:ea typeface="Arial"/>
              <a:cs typeface="Arial"/>
            </a:endParaRPr>
          </a:p>
        </p:txBody>
      </p:sp>
      <p:sp>
        <p:nvSpPr>
          <p:cNvPr id="137" name="Google Shape;137;p7">
            <a:extLst>
              <a:ext uri="{FF2B5EF4-FFF2-40B4-BE49-F238E27FC236}">
                <a16:creationId xmlns:a16="http://schemas.microsoft.com/office/drawing/2014/main" id="{70F49A79-79BD-4D31-94D6-106958BFE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495300" indent="-34290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r>
              <a:rPr b="1" dirty="0"/>
              <a:t>Activity Diagram</a:t>
            </a:r>
          </a:p>
        </p:txBody>
      </p:sp>
      <p:sp>
        <p:nvSpPr>
          <p:cNvPr id="138" name="Google Shape;138;p7">
            <a:extLst>
              <a:ext uri="{FF2B5EF4-FFF2-40B4-BE49-F238E27FC236}">
                <a16:creationId xmlns:a16="http://schemas.microsoft.com/office/drawing/2014/main" id="{7FCBFBE7-26C8-4F19-8E8E-9A1CA1C85E3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042043-0F9F-AFFD-0E8B-36AE7753C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170" y="1074057"/>
            <a:ext cx="2015005" cy="532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093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>
            <a:extLst>
              <a:ext uri="{FF2B5EF4-FFF2-40B4-BE49-F238E27FC236}">
                <a16:creationId xmlns:a16="http://schemas.microsoft.com/office/drawing/2014/main" id="{51CE0E94-B3B7-471A-BCCF-49A5799DD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III. DESIGN DETAIL</a:t>
            </a:r>
          </a:p>
        </p:txBody>
      </p:sp>
      <p:sp>
        <p:nvSpPr>
          <p:cNvPr id="145" name="Google Shape;145;p8">
            <a:extLst>
              <a:ext uri="{FF2B5EF4-FFF2-40B4-BE49-F238E27FC236}">
                <a16:creationId xmlns:a16="http://schemas.microsoft.com/office/drawing/2014/main" id="{21C9EBF4-7D70-4AD3-943B-ABC2213F1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495300" indent="-342900">
              <a:spcBef>
                <a:spcPts val="0"/>
              </a:spcBef>
              <a:buSzPts val="2400"/>
              <a:buNone/>
            </a:pPr>
            <a:r>
              <a:rPr sz="2400">
                <a:latin typeface="+mn-lt"/>
                <a:ea typeface="+mn-lt"/>
                <a:cs typeface="+mn-lt"/>
              </a:rPr>
              <a:t>Menu and Settings UI</a:t>
            </a:r>
          </a:p>
        </p:txBody>
      </p:sp>
      <p:sp>
        <p:nvSpPr>
          <p:cNvPr id="146" name="Google Shape;146;p8">
            <a:extLst>
              <a:ext uri="{FF2B5EF4-FFF2-40B4-BE49-F238E27FC236}">
                <a16:creationId xmlns:a16="http://schemas.microsoft.com/office/drawing/2014/main" id="{26E8AC26-EB3D-4832-B4E5-28CF6394845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9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3A62CE-7CEA-1BCC-7FFD-0FCC82456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563" y="1594135"/>
            <a:ext cx="2082710" cy="44988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EE4248-D997-341C-C9EA-4F7B47E84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625" y="2493090"/>
            <a:ext cx="3048425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98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>
            <a:extLst>
              <a:ext uri="{FF2B5EF4-FFF2-40B4-BE49-F238E27FC236}">
                <a16:creationId xmlns:a16="http://schemas.microsoft.com/office/drawing/2014/main" id="{5DEC93C9-EF35-A8EA-CA95-80C9EB419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III. DESIGN DETAIL</a:t>
            </a:r>
          </a:p>
        </p:txBody>
      </p:sp>
      <p:sp>
        <p:nvSpPr>
          <p:cNvPr id="145" name="Google Shape;145;p8">
            <a:extLst>
              <a:ext uri="{FF2B5EF4-FFF2-40B4-BE49-F238E27FC236}">
                <a16:creationId xmlns:a16="http://schemas.microsoft.com/office/drawing/2014/main" id="{DFEF619E-B0D1-B4B1-F23F-399D496B9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495300" indent="-342900">
              <a:spcBef>
                <a:spcPts val="0"/>
              </a:spcBef>
              <a:buSzPts val="2400"/>
              <a:buNone/>
            </a:pPr>
            <a:r>
              <a:rPr sz="2400">
                <a:latin typeface="+mn-lt"/>
                <a:ea typeface="+mn-lt"/>
                <a:cs typeface="+mn-lt"/>
              </a:rPr>
              <a:t>In-Game HUD and Level Up</a:t>
            </a:r>
          </a:p>
        </p:txBody>
      </p:sp>
      <p:sp>
        <p:nvSpPr>
          <p:cNvPr id="146" name="Google Shape;146;p8">
            <a:extLst>
              <a:ext uri="{FF2B5EF4-FFF2-40B4-BE49-F238E27FC236}">
                <a16:creationId xmlns:a16="http://schemas.microsoft.com/office/drawing/2014/main" id="{6C5C600C-AD3F-16F0-594B-F895B3E71BE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5CBAF7-A9D6-5469-0B68-F22813078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088" y="1702052"/>
            <a:ext cx="2077255" cy="45015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851A28-0EEE-5308-00FD-791C4AB21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702" y="2005829"/>
            <a:ext cx="3334215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22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>
            <a:extLst>
              <a:ext uri="{FF2B5EF4-FFF2-40B4-BE49-F238E27FC236}">
                <a16:creationId xmlns:a16="http://schemas.microsoft.com/office/drawing/2014/main" id="{B9B23D56-F968-AF1E-062D-27B15EF1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III. DESIGN DETAIL</a:t>
            </a:r>
          </a:p>
        </p:txBody>
      </p:sp>
      <p:sp>
        <p:nvSpPr>
          <p:cNvPr id="145" name="Google Shape;145;p8">
            <a:extLst>
              <a:ext uri="{FF2B5EF4-FFF2-40B4-BE49-F238E27FC236}">
                <a16:creationId xmlns:a16="http://schemas.microsoft.com/office/drawing/2014/main" id="{950060C8-2731-3F5C-4C94-BC22C5B48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495300" indent="-342900">
              <a:spcBef>
                <a:spcPts val="0"/>
              </a:spcBef>
              <a:buSzPts val="2400"/>
              <a:buNone/>
            </a:pPr>
            <a:r>
              <a:rPr sz="2400">
                <a:latin typeface="+mn-lt"/>
                <a:ea typeface="+mn-lt"/>
                <a:cs typeface="+mn-lt"/>
              </a:rPr>
              <a:t>Class Diagram</a:t>
            </a:r>
          </a:p>
        </p:txBody>
      </p:sp>
      <p:sp>
        <p:nvSpPr>
          <p:cNvPr id="146" name="Google Shape;146;p8">
            <a:extLst>
              <a:ext uri="{FF2B5EF4-FFF2-40B4-BE49-F238E27FC236}">
                <a16:creationId xmlns:a16="http://schemas.microsoft.com/office/drawing/2014/main" id="{6F5F29FA-3A34-5FBF-2FEC-262BEDDCFA5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11</a:t>
            </a:fld>
            <a:endParaRPr/>
          </a:p>
        </p:txBody>
      </p:sp>
      <p:pic>
        <p:nvPicPr>
          <p:cNvPr id="151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865" y="1074056"/>
            <a:ext cx="6430623" cy="541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25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>
            <a:extLst>
              <a:ext uri="{FF2B5EF4-FFF2-40B4-BE49-F238E27FC236}">
                <a16:creationId xmlns:a16="http://schemas.microsoft.com/office/drawing/2014/main" id="{D3DE1E7B-7F4E-A38F-7647-A02691363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III. DESIGN DETAIL</a:t>
            </a:r>
          </a:p>
        </p:txBody>
      </p:sp>
      <p:sp>
        <p:nvSpPr>
          <p:cNvPr id="145" name="Google Shape;145;p8">
            <a:extLst>
              <a:ext uri="{FF2B5EF4-FFF2-40B4-BE49-F238E27FC236}">
                <a16:creationId xmlns:a16="http://schemas.microsoft.com/office/drawing/2014/main" id="{25B509E5-FDDD-D328-42BF-A46473BDF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495300" indent="-342900">
              <a:spcBef>
                <a:spcPts val="0"/>
              </a:spcBef>
              <a:buSzPts val="2400"/>
              <a:buNone/>
            </a:pPr>
            <a:r>
              <a:rPr b="1"/>
              <a:t>System Architecture</a:t>
            </a:r>
          </a:p>
          <a:p>
            <a:pPr marL="609600" lvl="1" indent="0">
              <a:spcBef>
                <a:spcPts val="0"/>
              </a:spcBef>
              <a:buNone/>
            </a:pPr>
            <a:r>
              <a:t>- Hybrid MonoBehaviour + DOTS</a:t>
            </a:r>
          </a:p>
        </p:txBody>
      </p:sp>
      <p:sp>
        <p:nvSpPr>
          <p:cNvPr id="146" name="Google Shape;146;p8">
            <a:extLst>
              <a:ext uri="{FF2B5EF4-FFF2-40B4-BE49-F238E27FC236}">
                <a16:creationId xmlns:a16="http://schemas.microsoft.com/office/drawing/2014/main" id="{214844D0-677B-3B66-D254-3A52A484E79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12</a:t>
            </a:fld>
            <a:endParaRPr/>
          </a:p>
        </p:txBody>
      </p:sp>
      <p:pic>
        <p:nvPicPr>
          <p:cNvPr id="151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48" y="1975070"/>
            <a:ext cx="10936107" cy="333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931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>
            <a:extLst>
              <a:ext uri="{FF2B5EF4-FFF2-40B4-BE49-F238E27FC236}">
                <a16:creationId xmlns:a16="http://schemas.microsoft.com/office/drawing/2014/main" id="{5643F666-C96C-904D-6184-D51E39F3C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III. DESIGN DETAIL</a:t>
            </a:r>
          </a:p>
        </p:txBody>
      </p:sp>
      <p:sp>
        <p:nvSpPr>
          <p:cNvPr id="145" name="Google Shape;145;p8">
            <a:extLst>
              <a:ext uri="{FF2B5EF4-FFF2-40B4-BE49-F238E27FC236}">
                <a16:creationId xmlns:a16="http://schemas.microsoft.com/office/drawing/2014/main" id="{66EE6ED3-5A56-6536-5789-12BF7368B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495300" indent="-342900">
              <a:spcBef>
                <a:spcPts val="0"/>
              </a:spcBef>
              <a:buSzPts val="2400"/>
              <a:buNone/>
            </a:pPr>
            <a:r>
              <a:rPr b="1"/>
              <a:t>Sequence Diagram</a:t>
            </a:r>
          </a:p>
          <a:p>
            <a:pPr marL="609600" lvl="1" indent="0">
              <a:spcBef>
                <a:spcPts val="0"/>
              </a:spcBef>
              <a:buNone/>
            </a:pPr>
            <a:r>
              <a:t>- Complete Gameplay Flow</a:t>
            </a:r>
          </a:p>
        </p:txBody>
      </p:sp>
      <p:sp>
        <p:nvSpPr>
          <p:cNvPr id="146" name="Google Shape;146;p8">
            <a:extLst>
              <a:ext uri="{FF2B5EF4-FFF2-40B4-BE49-F238E27FC236}">
                <a16:creationId xmlns:a16="http://schemas.microsoft.com/office/drawing/2014/main" id="{B9DEAFF2-0A73-76E2-9D98-723D43F06C7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13</a:t>
            </a:fld>
            <a:endParaRPr/>
          </a:p>
        </p:txBody>
      </p:sp>
      <p:pic>
        <p:nvPicPr>
          <p:cNvPr id="151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0644"/>
            <a:ext cx="12192000" cy="449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51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>
            <a:extLst>
              <a:ext uri="{FF2B5EF4-FFF2-40B4-BE49-F238E27FC236}">
                <a16:creationId xmlns:a16="http://schemas.microsoft.com/office/drawing/2014/main" id="{623E24C3-17AC-9757-2908-241DE0C20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III. DESIGN DETAIL</a:t>
            </a:r>
          </a:p>
        </p:txBody>
      </p:sp>
      <p:sp>
        <p:nvSpPr>
          <p:cNvPr id="145" name="Google Shape;145;p8">
            <a:extLst>
              <a:ext uri="{FF2B5EF4-FFF2-40B4-BE49-F238E27FC236}">
                <a16:creationId xmlns:a16="http://schemas.microsoft.com/office/drawing/2014/main" id="{CD2E1DCE-768F-EF08-C1F6-C07908938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729" y="1074057"/>
            <a:ext cx="11844997" cy="541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495300" indent="-342900">
              <a:spcBef>
                <a:spcPts val="0"/>
              </a:spcBef>
              <a:buSzPts val="2400"/>
              <a:buNone/>
            </a:pPr>
            <a:r>
              <a:rPr b="1" dirty="0"/>
              <a:t>Data Model</a:t>
            </a:r>
          </a:p>
          <a:p>
            <a:pPr marL="152400" indent="0">
              <a:spcBef>
                <a:spcPts val="0"/>
              </a:spcBef>
              <a:buSzPts val="2400"/>
              <a:buNone/>
            </a:pPr>
            <a:endParaRPr b="1" dirty="0"/>
          </a:p>
          <a:p>
            <a:pPr marL="952500" lvl="1" indent="-342900">
              <a:spcBef>
                <a:spcPts val="0"/>
              </a:spcBef>
              <a:buNone/>
            </a:pPr>
            <a:r>
              <a:rPr sz="2000" b="1" dirty="0">
                <a:latin typeface="+mn-lt"/>
                <a:ea typeface="+mn-lt"/>
                <a:cs typeface="+mn-lt"/>
              </a:rPr>
              <a:t>Runtime data stores:</a:t>
            </a:r>
            <a:endParaRPr lang="en-GB" sz="2000" b="1" dirty="0">
              <a:latin typeface="+mn-lt"/>
              <a:ea typeface="+mn-lt"/>
              <a:cs typeface="+mn-lt"/>
            </a:endParaRPr>
          </a:p>
          <a:p>
            <a:pPr marL="952500" lvl="1" indent="-342900">
              <a:spcBef>
                <a:spcPts val="0"/>
              </a:spcBef>
              <a:buNone/>
            </a:pPr>
            <a:endParaRPr lang="en-GB" sz="2000" b="1" dirty="0">
              <a:latin typeface="+mn-lt"/>
              <a:ea typeface="+mn-lt"/>
              <a:cs typeface="+mn-lt"/>
            </a:endParaRPr>
          </a:p>
          <a:p>
            <a:pPr marL="952500" lvl="1" indent="-342900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sz="1400" dirty="0">
                <a:latin typeface="+mn-lt"/>
                <a:ea typeface="+mn-lt"/>
                <a:cs typeface="+mn-lt"/>
              </a:rPr>
              <a:t>Player - health, weapons, EXP, and gold</a:t>
            </a:r>
            <a:endParaRPr lang="en-GB" sz="1400" dirty="0">
              <a:latin typeface="+mn-lt"/>
              <a:ea typeface="+mn-lt"/>
              <a:cs typeface="+mn-lt"/>
            </a:endParaRPr>
          </a:p>
          <a:p>
            <a:pPr marL="952500" lvl="1" indent="-342900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sz="1400" dirty="0"/>
              <a:t>Enemy - health, speed, target, attack state</a:t>
            </a:r>
            <a:endParaRPr lang="en-GB" sz="1400" dirty="0"/>
          </a:p>
          <a:p>
            <a:pPr marL="952500" lvl="1" indent="-342900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sz="1400" dirty="0"/>
              <a:t>Wave - enemy types, count, timing, scaling</a:t>
            </a:r>
            <a:endParaRPr lang="en-GB" sz="1400" dirty="0"/>
          </a:p>
          <a:p>
            <a:pPr marL="952500" lvl="1" indent="-342900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sz="1400" dirty="0"/>
              <a:t>UI - reads state without owning combat logic</a:t>
            </a:r>
          </a:p>
        </p:txBody>
      </p:sp>
      <p:sp>
        <p:nvSpPr>
          <p:cNvPr id="146" name="Google Shape;146;p8">
            <a:extLst>
              <a:ext uri="{FF2B5EF4-FFF2-40B4-BE49-F238E27FC236}">
                <a16:creationId xmlns:a16="http://schemas.microsoft.com/office/drawing/2014/main" id="{E8F227CC-B5B4-2747-9934-AB2C617871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4995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>
            <a:extLst>
              <a:ext uri="{FF2B5EF4-FFF2-40B4-BE49-F238E27FC236}">
                <a16:creationId xmlns:a16="http://schemas.microsoft.com/office/drawing/2014/main" id="{E8102E28-BB1E-3110-772B-B2A92BCD5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III. DESIGN DETAIL</a:t>
            </a:r>
          </a:p>
        </p:txBody>
      </p:sp>
      <p:sp>
        <p:nvSpPr>
          <p:cNvPr id="145" name="Google Shape;145;p8">
            <a:extLst>
              <a:ext uri="{FF2B5EF4-FFF2-40B4-BE49-F238E27FC236}">
                <a16:creationId xmlns:a16="http://schemas.microsoft.com/office/drawing/2014/main" id="{53375310-46BB-CC7F-1AA0-B58FCBCEC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729" y="1074057"/>
            <a:ext cx="11844997" cy="557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495300" indent="-342900">
              <a:spcBef>
                <a:spcPts val="0"/>
              </a:spcBef>
              <a:buSzPts val="2400"/>
              <a:buNone/>
            </a:pPr>
            <a:r>
              <a:rPr b="1"/>
              <a:t>Data Model</a:t>
            </a:r>
          </a:p>
        </p:txBody>
      </p:sp>
      <p:sp>
        <p:nvSpPr>
          <p:cNvPr id="146" name="Google Shape;146;p8">
            <a:extLst>
              <a:ext uri="{FF2B5EF4-FFF2-40B4-BE49-F238E27FC236}">
                <a16:creationId xmlns:a16="http://schemas.microsoft.com/office/drawing/2014/main" id="{84BB2AD0-2F1F-A738-C0F7-27CDC914CF3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15</a:t>
            </a:fld>
            <a:endParaRPr/>
          </a:p>
        </p:txBody>
      </p:sp>
      <p:pic>
        <p:nvPicPr>
          <p:cNvPr id="151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779" y="1940598"/>
            <a:ext cx="6468152" cy="43787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7D411D-513B-0D8E-BCCF-9F614E9AD951}"/>
              </a:ext>
            </a:extLst>
          </p:cNvPr>
          <p:cNvSpPr>
            <a:spLocks noGrp="1"/>
          </p:cNvSpPr>
          <p:nvPr/>
        </p:nvSpPr>
        <p:spPr>
          <a:xfrm>
            <a:off x="797858" y="1524477"/>
            <a:ext cx="34693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sz="2000" b="1">
                <a:solidFill>
                  <a:schemeClr val="accent1">
                    <a:lumMod val="75000"/>
                  </a:schemeClr>
                </a:solidFill>
              </a:rPr>
              <a:t>Core Data Relationships</a:t>
            </a:r>
          </a:p>
        </p:txBody>
      </p:sp>
    </p:spTree>
    <p:extLst>
      <p:ext uri="{BB962C8B-B14F-4D97-AF65-F5344CB8AC3E}">
        <p14:creationId xmlns:p14="http://schemas.microsoft.com/office/powerpoint/2010/main" val="2969988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>
            <a:extLst>
              <a:ext uri="{FF2B5EF4-FFF2-40B4-BE49-F238E27FC236}">
                <a16:creationId xmlns:a16="http://schemas.microsoft.com/office/drawing/2014/main" id="{9A8673D6-9B3D-4640-BB8F-2AB88E72B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IV. TEST</a:t>
            </a:r>
          </a:p>
        </p:txBody>
      </p:sp>
      <p:sp>
        <p:nvSpPr>
          <p:cNvPr id="154" name="Google Shape;154;p9">
            <a:extLst>
              <a:ext uri="{FF2B5EF4-FFF2-40B4-BE49-F238E27FC236}">
                <a16:creationId xmlns:a16="http://schemas.microsoft.com/office/drawing/2014/main" id="{5599B651-1FEE-43AA-A213-E1429EAF0C3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16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D23D17-58A5-88C2-D027-B1E432D20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327" y="926876"/>
            <a:ext cx="8202170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38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>
            <a:extLst>
              <a:ext uri="{FF2B5EF4-FFF2-40B4-BE49-F238E27FC236}">
                <a16:creationId xmlns:a16="http://schemas.microsoft.com/office/drawing/2014/main" id="{95B2C693-A904-4636-ACA8-F4C12568D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03" y="263301"/>
            <a:ext cx="11844998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lvl="0">
              <a:buNone/>
            </a:pPr>
            <a:r>
              <a:rPr sz="3200"/>
              <a:t>V. Installation Instructions</a:t>
            </a:r>
          </a:p>
        </p:txBody>
      </p:sp>
      <p:sp>
        <p:nvSpPr>
          <p:cNvPr id="185" name="Google Shape;185;p13">
            <a:extLst>
              <a:ext uri="{FF2B5EF4-FFF2-40B4-BE49-F238E27FC236}">
                <a16:creationId xmlns:a16="http://schemas.microsoft.com/office/drawing/2014/main" id="{21D1B251-75C2-4BFF-9136-1B0288712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730" y="1074057"/>
            <a:ext cx="6988105" cy="5237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 fontScale="82941" lnSpcReduction="10000"/>
          </a:bodyPr>
          <a:lstStyle/>
          <a:p>
            <a:r>
              <a:rPr b="1" dirty="0"/>
              <a:t>PREREQUISITES</a:t>
            </a:r>
            <a:endParaRPr dirty="0"/>
          </a:p>
          <a:p>
            <a:pPr marL="50800" lvl="0" indent="0">
              <a:buNone/>
            </a:pPr>
            <a:r>
              <a:rPr dirty="0"/>
              <a:t>Unity Hub</a:t>
            </a:r>
          </a:p>
          <a:p>
            <a:pPr marL="50800" lvl="0" indent="0">
              <a:buNone/>
            </a:pPr>
            <a:r>
              <a:rPr dirty="0"/>
              <a:t>Unity Editor 6000.3.10f1</a:t>
            </a:r>
          </a:p>
          <a:p>
            <a:pPr marL="50800" lvl="0" indent="0">
              <a:buNone/>
            </a:pPr>
            <a:r>
              <a:rPr dirty="0"/>
              <a:t>Android Build Support</a:t>
            </a:r>
          </a:p>
          <a:p>
            <a:pPr marL="50800" indent="0">
              <a:buNone/>
            </a:pPr>
            <a:endParaRPr dirty="0"/>
          </a:p>
          <a:p>
            <a:r>
              <a:rPr b="1" dirty="0"/>
              <a:t>INSTALLATION STEPS</a:t>
            </a:r>
          </a:p>
          <a:p>
            <a:pPr marL="50800" lvl="0" indent="0">
              <a:buNone/>
            </a:pPr>
            <a:r>
              <a:rPr b="1" dirty="0"/>
              <a:t>1. Open the Endless Zombie project in Unity Hub.</a:t>
            </a:r>
            <a:endParaRPr dirty="0"/>
          </a:p>
          <a:p>
            <a:pPr marL="50800" indent="0">
              <a:buNone/>
            </a:pPr>
            <a:r>
              <a:rPr dirty="0"/>
              <a:t>2. Confirm URP, Entities/DOTS, and Input System packages.</a:t>
            </a:r>
          </a:p>
          <a:p>
            <a:pPr marL="50800" indent="0">
              <a:buNone/>
            </a:pPr>
            <a:r>
              <a:rPr dirty="0"/>
              <a:t>3. Open the main scene and test in Play Mode.</a:t>
            </a:r>
          </a:p>
          <a:p>
            <a:pPr marL="511175" lvl="0" indent="0">
              <a:buNone/>
            </a:pPr>
            <a:r>
              <a:rPr b="1" dirty="0"/>
              <a:t>4. Switch the build target to Android.</a:t>
            </a:r>
            <a:endParaRPr dirty="0"/>
          </a:p>
          <a:p>
            <a:pPr marL="533400" lvl="1" indent="0">
              <a:buNone/>
            </a:pPr>
            <a:r>
              <a:rPr dirty="0"/>
              <a:t>5. Configure package name and player settings.</a:t>
            </a:r>
          </a:p>
          <a:p>
            <a:pPr marL="533400" lvl="1" indent="0">
              <a:buNone/>
            </a:pPr>
            <a:r>
              <a:rPr dirty="0"/>
              <a:t>6. Build the APK and install it on an Android device.</a:t>
            </a:r>
          </a:p>
        </p:txBody>
      </p:sp>
      <p:sp>
        <p:nvSpPr>
          <p:cNvPr id="186" name="Google Shape;186;p13">
            <a:extLst>
              <a:ext uri="{FF2B5EF4-FFF2-40B4-BE49-F238E27FC236}">
                <a16:creationId xmlns:a16="http://schemas.microsoft.com/office/drawing/2014/main" id="{9E3FCA75-747E-43E3-91C9-C44CC35F1D0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54642" y="6517962"/>
            <a:ext cx="13534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8505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92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0837" y="1664596"/>
            <a:ext cx="3310326" cy="352880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3492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>
            <a:extLst>
              <a:ext uri="{FF2B5EF4-FFF2-40B4-BE49-F238E27FC236}">
                <a16:creationId xmlns:a16="http://schemas.microsoft.com/office/drawing/2014/main" id="{BF23566A-0ADF-4D3A-A268-2337E6A5F51A}"/>
              </a:ext>
            </a:extLst>
          </p:cNvPr>
          <p:cNvSpPr>
            <a:spLocks noGrp="1"/>
          </p:cNvSpPr>
          <p:nvPr/>
        </p:nvSpPr>
        <p:spPr>
          <a:xfrm>
            <a:off x="314179" y="2644170"/>
            <a:ext cx="11563642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600" b="0" i="0" u="none" cap="none">
                <a:solidFill>
                  <a:schemeClr val="lt1"/>
                </a:solidFill>
                <a:latin typeface="+mj-lt"/>
                <a:ea typeface="+mj-lt"/>
                <a:cs typeface="+mj-lt"/>
              </a:rPr>
              <a:t>Q &amp; A</a:t>
            </a:r>
            <a:endParaRPr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0843170"/>
      </p:ext>
    </p:extLst>
  </p:cSld>
  <p:clrMapOvr>
    <a:masterClrMapping/>
  </p:clrMapOvr>
</p:sld>
</file>

<file path=ppt/theme/theme1.xml><?xml version="1.0" encoding="utf-8"?>
<a:theme xmlns:a="http://schemas.openxmlformats.org/drawingml/2006/main" name="VTCA-Slide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TCA-Slide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474</Words>
  <Application>Microsoft Office PowerPoint</Application>
  <DocSecurity>0</DocSecurity>
  <PresentationFormat>Widescreen</PresentationFormat>
  <Paragraphs>109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Helvetica Neue</vt:lpstr>
      <vt:lpstr>Helvetica Neue Light</vt:lpstr>
      <vt:lpstr>Arial</vt:lpstr>
      <vt:lpstr>Calibri</vt:lpstr>
      <vt:lpstr>VTCA-SlideTheme</vt:lpstr>
      <vt:lpstr>ENDLESS ZOMBIE</vt:lpstr>
      <vt:lpstr>OBJECTIVES</vt:lpstr>
      <vt:lpstr>Project Introduction</vt:lpstr>
      <vt:lpstr>Project Introduction</vt:lpstr>
      <vt:lpstr>Project Introduction</vt:lpstr>
      <vt:lpstr>II. ANALYZE SYSTEM REQUIREMENTS</vt:lpstr>
      <vt:lpstr>II. ANALYZE SYSTEM REQUIREMENTS</vt:lpstr>
      <vt:lpstr>II. ANALYZE SYSTEM REQUIREMENTS</vt:lpstr>
      <vt:lpstr>III. DESIGN DETAIL</vt:lpstr>
      <vt:lpstr>III. DESIGN DETAIL</vt:lpstr>
      <vt:lpstr>III. DESIGN DETAIL</vt:lpstr>
      <vt:lpstr>III. DESIGN DETAIL</vt:lpstr>
      <vt:lpstr>III. DESIGN DETAIL</vt:lpstr>
      <vt:lpstr>III. DESIGN DETAIL</vt:lpstr>
      <vt:lpstr>III. DESIGN DETAIL</vt:lpstr>
      <vt:lpstr>IV. TEST</vt:lpstr>
      <vt:lpstr>V. Installation Instructions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Tiến Vũ</cp:lastModifiedBy>
  <cp:revision>6</cp:revision>
  <dcterms:created xsi:type="dcterms:W3CDTF">2026-08-31T05:13:46Z</dcterms:created>
  <dcterms:modified xsi:type="dcterms:W3CDTF">2026-09-03T08:06:12Z</dcterms:modified>
</cp:coreProperties>
</file>