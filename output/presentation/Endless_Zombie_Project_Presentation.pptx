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C:/Users/Vu Tien/Desktop/Project2_GD1305_Endless_Zombie_Report_EN.pdf (pages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C:/Users/Vu Tien/Desktop/Project2_GD1305_Endless_Zombie_Report_EN.pdf (pages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C:/Users/Vu Tien/Desktop/Project2_GD1305_Endless_Zombie_Report_EN.pdf (pages 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C:/Users/Vu Tien/Desktop/Project2_GD1305_Endless_Zombie_Report_EN.pdf (pages 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C:/Users/Vu Tien/Desktop/Project2_GD1305_Endless_Zombie_Report_EN.pdf (pages 6–9)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C:/Users/Vu Tien/Desktop/Project2_GD1305_Endless_Zombie_Report_EN.pdf (pages 9–12)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C:/Users/Vu Tien/Desktop/Project2_GD1305_Endless_Zombie_Report_EN.pdf (pages 13)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C:/Users/Vu Tien/Desktop/Project2_GD1305_Endless_Zombie_Report_EN.pdf (pages 14–15)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C:/Users/Vu Tien/Desktop/Project2_GD1305_Endless_Zombie_Report_EN.pdf (pages 16)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C:/Users/Vu Tien/Desktop/Project2_GD1305_Endless_Zombie_Report_EN.pdf (pages 16)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C:/Users/Vu Tien/Desktop/Project2_GD1305_Endless_Zombie_Report_EN.pdf (pages 17)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C:/Users/Vu Tien/Desktop/Project2_GD1305_Endless_Zombie_Report_EN.pdf (pages 17–18)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C:/Users/Vu Tien/Desktop/Project2_GD1305_Endless_Zombie_Report_EN.pdf (pages 19)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C:/Users/Vu Tien/Desktop/Project2_GD1305_Endless_Zombie_Report_EN.pdf (pages 20)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C:/Users/Vu Tien/Desktop/Project2_GD1305_Endless_Zombie_Report_EN.pdf (pages 21)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C:/Users/Vu Tien/Desktop/Project2_GD1305_Endless_Zombie_Report_EN.pdf (pages 21–22)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r">
            <a:extLst>
              <a:ext uri="{FF2B5EF4-FFF2-40B4-BE49-F238E27FC236}">
                <a16:creationId xmlns:a16="http://schemas.microsoft.com/office/drawing/2014/main" id="{E3C0812A-AAD7-411B-BD6F-53B3BAEAAA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3B341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2" name="cap">
            <a:extLst>
              <a:ext uri="{FF2B5EF4-FFF2-40B4-BE49-F238E27FC236}">
                <a16:creationId xmlns:a16="http://schemas.microsoft.com/office/drawing/2014/main" id="{36A4C7F6-B180-4531-9949-BB70249E4550}"/>
              </a:ext>
            </a:extLst>
          </p:cNvPr>
          <p:cNvSpPr>
            <a:spLocks noGrp="1"/>
          </p:cNvSpPr>
          <p:nvPr/>
        </p:nvSpPr>
        <p:spPr>
          <a:xfrm>
            <a:off x="723900" y="6286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78D2D7"/>
                </a:solidFill>
              </a:defRPr>
            </a:pPr>
            <a:r>
              <a:rPr sz="1200" b="1">
                <a:solidFill>
                  <a:srgbClr val="78D2D7"/>
                </a:solidFill>
              </a:rPr>
              <a:t>CAPSTONE PROJECT • GD1305</a:t>
            </a:r>
          </a:p>
        </p:txBody>
      </p:sp>
      <p:sp>
        <p:nvSpPr>
          <p:cNvPr id="3" name="main">
            <a:extLst>
              <a:ext uri="{FF2B5EF4-FFF2-40B4-BE49-F238E27FC236}">
                <a16:creationId xmlns:a16="http://schemas.microsoft.com/office/drawing/2014/main" id="{26327AFA-7C56-4C41-B3EE-5F3EF70BB44E}"/>
              </a:ext>
            </a:extLst>
          </p:cNvPr>
          <p:cNvSpPr>
            <a:spLocks noGrp="1"/>
          </p:cNvSpPr>
          <p:nvPr/>
        </p:nvSpPr>
        <p:spPr>
          <a:xfrm>
            <a:off x="723900" y="1381125"/>
            <a:ext cx="6191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ENDLESS</a:t>
            </a:r>
          </a:p>
          <a:p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ZOMBIE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45FE48F6-544C-42F0-AFA7-7FC577BA5C89}"/>
              </a:ext>
            </a:extLst>
          </p:cNvPr>
          <p:cNvSpPr>
            <a:spLocks noGrp="1"/>
          </p:cNvSpPr>
          <p:nvPr/>
        </p:nvSpPr>
        <p:spPr>
          <a:xfrm>
            <a:off x="762000" y="333375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0">
                <a:solidFill>
                  <a:srgbClr val="C7D6E8"/>
                </a:solidFill>
              </a:defRPr>
            </a:pPr>
            <a:r>
              <a:rPr sz="1875" b="0">
                <a:solidFill>
                  <a:srgbClr val="C7D6E8"/>
                </a:solidFill>
              </a:rPr>
              <a:t>Survival Shooter / Action Roguelite</a:t>
            </a:r>
          </a:p>
        </p:txBody>
      </p:sp>
      <p:sp>
        <p:nvSpPr>
          <p:cNvPr id="5" name="info">
            <a:extLst>
              <a:ext uri="{FF2B5EF4-FFF2-40B4-BE49-F238E27FC236}">
                <a16:creationId xmlns:a16="http://schemas.microsoft.com/office/drawing/2014/main" id="{55A4D1B6-A78D-4EB8-B04B-20E8FF3CDDC4}"/>
              </a:ext>
            </a:extLst>
          </p:cNvPr>
          <p:cNvSpPr>
            <a:spLocks noGrp="1"/>
          </p:cNvSpPr>
          <p:nvPr/>
        </p:nvSpPr>
        <p:spPr>
          <a:xfrm>
            <a:off x="7524750" y="762000"/>
            <a:ext cx="3714750" cy="4953000"/>
          </a:xfrm>
          <a:prstGeom prst="roundRect">
            <a:avLst>
              <a:gd name="adj" fmla="val 4103"/>
            </a:avLst>
          </a:prstGeom>
          <a:solidFill>
            <a:srgbClr val="101E31"/>
          </a:solidFill>
          <a:ln w="9525">
            <a:solidFill>
              <a:srgbClr val="274565"/>
            </a:solidFill>
            <a:prstDash val="solid"/>
          </a:ln>
        </p:spPr>
      </p:sp>
      <p:sp>
        <p:nvSpPr>
          <p:cNvPr id="6" name="project">
            <a:extLst>
              <a:ext uri="{FF2B5EF4-FFF2-40B4-BE49-F238E27FC236}">
                <a16:creationId xmlns:a16="http://schemas.microsoft.com/office/drawing/2014/main" id="{71E3FA0F-3455-499C-9DF0-2E558DF63A7C}"/>
              </a:ext>
            </a:extLst>
          </p:cNvPr>
          <p:cNvSpPr>
            <a:spLocks noGrp="1"/>
          </p:cNvSpPr>
          <p:nvPr/>
        </p:nvSpPr>
        <p:spPr>
          <a:xfrm>
            <a:off x="8096250" y="1619250"/>
            <a:ext cx="2571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000" b="1">
                <a:solidFill>
                  <a:srgbClr val="E3B341"/>
                </a:solidFill>
              </a:defRPr>
            </a:pPr>
            <a:r>
              <a:rPr sz="3000" b="1">
                <a:solidFill>
                  <a:srgbClr val="E3B341"/>
                </a:solidFill>
              </a:rPr>
              <a:t>PROJECT</a:t>
            </a:r>
          </a:p>
          <a:p>
            <a:pPr algn="ctr">
              <a:defRPr sz="3000" b="1">
                <a:solidFill>
                  <a:srgbClr val="E3B341"/>
                </a:solidFill>
              </a:defRPr>
            </a:pPr>
            <a:r>
              <a:rPr sz="3000" b="1">
                <a:solidFill>
                  <a:srgbClr val="E3B341"/>
                </a:solidFill>
              </a:rPr>
              <a:t>REPORT</a:t>
            </a:r>
          </a:p>
        </p:txBody>
      </p:sp>
      <p:sp>
        <p:nvSpPr>
          <p:cNvPr id="7" name="course">
            <a:extLst>
              <a:ext uri="{FF2B5EF4-FFF2-40B4-BE49-F238E27FC236}">
                <a16:creationId xmlns:a16="http://schemas.microsoft.com/office/drawing/2014/main" id="{DB67621B-1310-4AB3-BC9C-0A8526D43B27}"/>
              </a:ext>
            </a:extLst>
          </p:cNvPr>
          <p:cNvSpPr>
            <a:spLocks noGrp="1"/>
          </p:cNvSpPr>
          <p:nvPr/>
        </p:nvSpPr>
        <p:spPr>
          <a:xfrm>
            <a:off x="8096250" y="3190875"/>
            <a:ext cx="2571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Unity 6000.3.10f1</a:t>
            </a:r>
          </a:p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Android Mobile</a:t>
            </a:r>
          </a:p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Hybrid OOP + ECS</a:t>
            </a:r>
          </a:p>
        </p:txBody>
      </p:sp>
      <p:sp>
        <p:nvSpPr>
          <p:cNvPr id="8" name="team">
            <a:extLst>
              <a:ext uri="{FF2B5EF4-FFF2-40B4-BE49-F238E27FC236}">
                <a16:creationId xmlns:a16="http://schemas.microsoft.com/office/drawing/2014/main" id="{93A9D040-0A68-4331-8585-08715F409481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5905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AFC1D8"/>
                </a:solidFill>
              </a:defRPr>
            </a:pPr>
            <a:r>
              <a:rPr sz="1350" b="0">
                <a:solidFill>
                  <a:srgbClr val="AFC1D8"/>
                </a:solidFill>
              </a:rPr>
              <a:t>The MoonStone</a:t>
            </a:r>
          </a:p>
          <a:p>
            <a:pPr algn="l">
              <a:defRPr sz="1350" b="0">
                <a:solidFill>
                  <a:srgbClr val="AFC1D8"/>
                </a:solidFill>
              </a:defRPr>
            </a:pPr>
            <a:r>
              <a:rPr sz="1350" b="0">
                <a:solidFill>
                  <a:srgbClr val="AFC1D8"/>
                </a:solidFill>
              </a:rPr>
              <a:t>Vu Viet Tien • Chu Van Thai</a:t>
            </a:r>
          </a:p>
        </p:txBody>
      </p:sp>
    </p:spTree>
    <p:extLst>
      <p:ext uri="{BB962C8B-B14F-4D97-AF65-F5344CB8AC3E}">
        <p14:creationId xmlns:p14="http://schemas.microsoft.com/office/powerpoint/2010/main" val="1821975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hapter-2">
            <a:extLst>
              <a:ext uri="{FF2B5EF4-FFF2-40B4-BE49-F238E27FC236}">
                <a16:creationId xmlns:a16="http://schemas.microsoft.com/office/drawing/2014/main" id="{6715C7A1-BE56-4DBF-85F9-886C60A95C10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478C9"/>
                </a:solidFill>
              </a:defRPr>
            </a:pPr>
            <a:r>
              <a:rPr sz="1050" b="1">
                <a:solidFill>
                  <a:srgbClr val="3478C9"/>
                </a:solidFill>
              </a:rPr>
              <a:t>I. PROJECT INTRODUCTION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BECDC1F9-06FE-42C5-BEAA-BED5C96A2415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73A66"/>
                </a:solidFill>
              </a:defRPr>
            </a:pPr>
            <a:r>
              <a:rPr sz="2700" b="1">
                <a:solidFill>
                  <a:srgbClr val="173A66"/>
                </a:solidFill>
              </a:rPr>
              <a:t>Endless Zombie combines survival pressure with persistent growth</a:t>
            </a:r>
          </a:p>
        </p:txBody>
      </p:sp>
      <p:sp>
        <p:nvSpPr>
          <p:cNvPr id="3" name="rule-2">
            <a:extLst>
              <a:ext uri="{FF2B5EF4-FFF2-40B4-BE49-F238E27FC236}">
                <a16:creationId xmlns:a16="http://schemas.microsoft.com/office/drawing/2014/main" id="{0BF8E342-FCD0-49A1-B79E-DB7E70FBDFD9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781050" cy="38100"/>
          </a:xfrm>
          <a:prstGeom prst="rect">
            <a:avLst/>
          </a:prstGeom>
          <a:solidFill>
            <a:srgbClr val="E3B341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4" name="foot-2">
            <a:extLst>
              <a:ext uri="{FF2B5EF4-FFF2-40B4-BE49-F238E27FC236}">
                <a16:creationId xmlns:a16="http://schemas.microsoft.com/office/drawing/2014/main" id="{1AAF9986-0EF6-4175-B35A-2D745E2D4767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GD1305  •  THE MOONSTONE</a:t>
            </a:r>
          </a:p>
        </p:txBody>
      </p:sp>
      <p:sp>
        <p:nvSpPr>
          <p:cNvPr id="5" name="page-2">
            <a:extLst>
              <a:ext uri="{FF2B5EF4-FFF2-40B4-BE49-F238E27FC236}">
                <a16:creationId xmlns:a16="http://schemas.microsoft.com/office/drawing/2014/main" id="{D1572571-AF58-487E-9737-A2D1FA8054BC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02</a:t>
            </a:r>
          </a:p>
        </p:txBody>
      </p:sp>
      <p:sp>
        <p:nvSpPr>
          <p:cNvPr id="6" name="overview">
            <a:extLst>
              <a:ext uri="{FF2B5EF4-FFF2-40B4-BE49-F238E27FC236}">
                <a16:creationId xmlns:a16="http://schemas.microsoft.com/office/drawing/2014/main" id="{76D41038-5341-45C5-B913-B3245B4EC64B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3478C9"/>
                </a:solidFill>
              </a:defRPr>
            </a:pPr>
            <a:r>
              <a:rPr sz="1350" b="1">
                <a:solidFill>
                  <a:srgbClr val="3478C9"/>
                </a:solidFill>
              </a:rPr>
              <a:t>PROJECT OVERVIEW</a:t>
            </a:r>
          </a:p>
        </p:txBody>
      </p:sp>
      <p:sp>
        <p:nvSpPr>
          <p:cNvPr id="7" name="overview-copy">
            <a:extLst>
              <a:ext uri="{FF2B5EF4-FFF2-40B4-BE49-F238E27FC236}">
                <a16:creationId xmlns:a16="http://schemas.microsoft.com/office/drawing/2014/main" id="{844D41D9-D137-47D0-BCCC-537F94B06553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4857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21827"/>
                </a:solidFill>
              </a:defRPr>
            </a:pPr>
            <a:r>
              <a:rPr sz="1725" b="1">
                <a:solidFill>
                  <a:srgbClr val="121827"/>
                </a:solidFill>
              </a:rPr>
              <a:t>A top-down Android survival shooter where the player survives increasingly difficult waves through movement, automatic targeting, weapon choice, XP, and upgrades.</a:t>
            </a:r>
          </a:p>
        </p:txBody>
      </p:sp>
      <p:sp>
        <p:nvSpPr>
          <p:cNvPr id="8" name="scope">
            <a:extLst>
              <a:ext uri="{FF2B5EF4-FFF2-40B4-BE49-F238E27FC236}">
                <a16:creationId xmlns:a16="http://schemas.microsoft.com/office/drawing/2014/main" id="{8E017FDC-EF04-4B17-A0A7-AA8473012229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3478C9"/>
                </a:solidFill>
              </a:defRPr>
            </a:pPr>
            <a:r>
              <a:rPr sz="1350" b="1">
                <a:solidFill>
                  <a:srgbClr val="3478C9"/>
                </a:solidFill>
              </a:rPr>
              <a:t>PROJECT SCOPE</a:t>
            </a:r>
          </a:p>
        </p:txBody>
      </p:sp>
      <p:sp>
        <p:nvSpPr>
          <p:cNvPr id="9" name="s1">
            <a:extLst>
              <a:ext uri="{FF2B5EF4-FFF2-40B4-BE49-F238E27FC236}">
                <a16:creationId xmlns:a16="http://schemas.microsoft.com/office/drawing/2014/main" id="{D0520D03-1EE0-4DEE-893F-FEA0723E27FF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21827"/>
                </a:solidFill>
              </a:defRPr>
            </a:pPr>
            <a:r>
              <a:rPr sz="1350" b="0">
                <a:solidFill>
                  <a:srgbClr val="121827"/>
                </a:solidFill>
              </a:rPr>
              <a:t>•  Canvas-based Main Menu, HUD, Settings, and Level Up UI</a:t>
            </a:r>
          </a:p>
        </p:txBody>
      </p:sp>
      <p:sp>
        <p:nvSpPr>
          <p:cNvPr id="10" name="s2">
            <a:extLst>
              <a:ext uri="{FF2B5EF4-FFF2-40B4-BE49-F238E27FC236}">
                <a16:creationId xmlns:a16="http://schemas.microsoft.com/office/drawing/2014/main" id="{9CB27EFC-37E2-4C54-81DA-B8C95E4833C8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21827"/>
                </a:solidFill>
              </a:defRPr>
            </a:pPr>
            <a:r>
              <a:rPr sz="1350" b="0">
                <a:solidFill>
                  <a:srgbClr val="121827"/>
                </a:solidFill>
              </a:rPr>
              <a:t>•  Data-driven enemy waves and prefab spawning</a:t>
            </a:r>
          </a:p>
        </p:txBody>
      </p:sp>
      <p:sp>
        <p:nvSpPr>
          <p:cNvPr id="11" name="s3">
            <a:extLst>
              <a:ext uri="{FF2B5EF4-FFF2-40B4-BE49-F238E27FC236}">
                <a16:creationId xmlns:a16="http://schemas.microsoft.com/office/drawing/2014/main" id="{1908A468-F8A8-4454-98A0-75E1509C1F65}"/>
              </a:ext>
            </a:extLst>
          </p:cNvPr>
          <p:cNvSpPr>
            <a:spLocks noGrp="1"/>
          </p:cNvSpPr>
          <p:nvPr/>
        </p:nvSpPr>
        <p:spPr>
          <a:xfrm>
            <a:off x="685800" y="4714875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21827"/>
                </a:solidFill>
              </a:defRPr>
            </a:pPr>
            <a:r>
              <a:rPr sz="1350" b="0">
                <a:solidFill>
                  <a:srgbClr val="121827"/>
                </a:solidFill>
              </a:rPr>
              <a:t>•  Weapon profiles including multi-projectile Shotgun</a:t>
            </a:r>
          </a:p>
        </p:txBody>
      </p:sp>
      <p:sp>
        <p:nvSpPr>
          <p:cNvPr id="12" name="s4">
            <a:extLst>
              <a:ext uri="{FF2B5EF4-FFF2-40B4-BE49-F238E27FC236}">
                <a16:creationId xmlns:a16="http://schemas.microsoft.com/office/drawing/2014/main" id="{912EC586-C55A-4008-AF70-4C4A34FDE70F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21827"/>
                </a:solidFill>
              </a:defRPr>
            </a:pPr>
            <a:r>
              <a:rPr sz="1350" b="0">
                <a:solidFill>
                  <a:srgbClr val="121827"/>
                </a:solidFill>
              </a:rPr>
              <a:t>•  DogMutant visual and synchronized run animation</a:t>
            </a:r>
          </a:p>
        </p:txBody>
      </p:sp>
      <p:sp>
        <p:nvSpPr>
          <p:cNvPr id="13" name="stack">
            <a:extLst>
              <a:ext uri="{FF2B5EF4-FFF2-40B4-BE49-F238E27FC236}">
                <a16:creationId xmlns:a16="http://schemas.microsoft.com/office/drawing/2014/main" id="{8C9415C7-E710-48E3-BD6A-7C6E199B6011}"/>
              </a:ext>
            </a:extLst>
          </p:cNvPr>
          <p:cNvSpPr>
            <a:spLocks noGrp="1"/>
          </p:cNvSpPr>
          <p:nvPr/>
        </p:nvSpPr>
        <p:spPr>
          <a:xfrm>
            <a:off x="6191250" y="1666875"/>
            <a:ext cx="5314950" cy="390525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14" name="stack-h">
            <a:extLst>
              <a:ext uri="{FF2B5EF4-FFF2-40B4-BE49-F238E27FC236}">
                <a16:creationId xmlns:a16="http://schemas.microsoft.com/office/drawing/2014/main" id="{A30AB280-FB9B-48D5-A39F-6CE89D2DE5B1}"/>
              </a:ext>
            </a:extLst>
          </p:cNvPr>
          <p:cNvSpPr>
            <a:spLocks noGrp="1"/>
          </p:cNvSpPr>
          <p:nvPr/>
        </p:nvSpPr>
        <p:spPr>
          <a:xfrm>
            <a:off x="6572250" y="1952625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3478C9"/>
                </a:solidFill>
              </a:defRPr>
            </a:pPr>
            <a:r>
              <a:rPr sz="1350" b="1">
                <a:solidFill>
                  <a:srgbClr val="3478C9"/>
                </a:solidFill>
              </a:rPr>
              <a:t>DEPLOYMENT ENVIRONMENT</a:t>
            </a:r>
          </a:p>
        </p:txBody>
      </p:sp>
      <p:sp>
        <p:nvSpPr>
          <p:cNvPr id="15" name="rk-0">
            <a:extLst>
              <a:ext uri="{FF2B5EF4-FFF2-40B4-BE49-F238E27FC236}">
                <a16:creationId xmlns:a16="http://schemas.microsoft.com/office/drawing/2014/main" id="{FE6FD07F-891A-4086-9A63-28C9901E80D9}"/>
              </a:ext>
            </a:extLst>
          </p:cNvPr>
          <p:cNvSpPr>
            <a:spLocks noGrp="1"/>
          </p:cNvSpPr>
          <p:nvPr/>
        </p:nvSpPr>
        <p:spPr>
          <a:xfrm>
            <a:off x="6572250" y="24765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60708A"/>
                </a:solidFill>
              </a:defRPr>
            </a:pPr>
            <a:r>
              <a:rPr sz="1200" b="1">
                <a:solidFill>
                  <a:srgbClr val="60708A"/>
                </a:solidFill>
              </a:rPr>
              <a:t>Platform</a:t>
            </a:r>
          </a:p>
        </p:txBody>
      </p:sp>
      <p:sp>
        <p:nvSpPr>
          <p:cNvPr id="16" name="rv-0">
            <a:extLst>
              <a:ext uri="{FF2B5EF4-FFF2-40B4-BE49-F238E27FC236}">
                <a16:creationId xmlns:a16="http://schemas.microsoft.com/office/drawing/2014/main" id="{1E9A1AB1-A1D7-45F5-B80B-DEC286DBDEB5}"/>
              </a:ext>
            </a:extLst>
          </p:cNvPr>
          <p:cNvSpPr>
            <a:spLocks noGrp="1"/>
          </p:cNvSpPr>
          <p:nvPr/>
        </p:nvSpPr>
        <p:spPr>
          <a:xfrm>
            <a:off x="8048625" y="24765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1827"/>
                </a:solidFill>
              </a:defRPr>
            </a:pPr>
            <a:r>
              <a:rPr sz="1275" b="1">
                <a:solidFill>
                  <a:srgbClr val="121827"/>
                </a:solidFill>
              </a:rPr>
              <a:t>Android mobile devices</a:t>
            </a:r>
          </a:p>
        </p:txBody>
      </p:sp>
      <p:sp>
        <p:nvSpPr>
          <p:cNvPr id="17" name="rk-1">
            <a:extLst>
              <a:ext uri="{FF2B5EF4-FFF2-40B4-BE49-F238E27FC236}">
                <a16:creationId xmlns:a16="http://schemas.microsoft.com/office/drawing/2014/main" id="{7420DFF7-46ED-4B60-A1EB-DE5257E00C4F}"/>
              </a:ext>
            </a:extLst>
          </p:cNvPr>
          <p:cNvSpPr>
            <a:spLocks noGrp="1"/>
          </p:cNvSpPr>
          <p:nvPr/>
        </p:nvSpPr>
        <p:spPr>
          <a:xfrm>
            <a:off x="6572250" y="29337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60708A"/>
                </a:solidFill>
              </a:defRPr>
            </a:pPr>
            <a:r>
              <a:rPr sz="1200" b="1">
                <a:solidFill>
                  <a:srgbClr val="60708A"/>
                </a:solidFill>
              </a:rPr>
              <a:t>Engine</a:t>
            </a:r>
          </a:p>
        </p:txBody>
      </p:sp>
      <p:sp>
        <p:nvSpPr>
          <p:cNvPr id="18" name="rv-1">
            <a:extLst>
              <a:ext uri="{FF2B5EF4-FFF2-40B4-BE49-F238E27FC236}">
                <a16:creationId xmlns:a16="http://schemas.microsoft.com/office/drawing/2014/main" id="{13470837-F43C-4A60-A146-7AF997307357}"/>
              </a:ext>
            </a:extLst>
          </p:cNvPr>
          <p:cNvSpPr>
            <a:spLocks noGrp="1"/>
          </p:cNvSpPr>
          <p:nvPr/>
        </p:nvSpPr>
        <p:spPr>
          <a:xfrm>
            <a:off x="8048625" y="29337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1827"/>
                </a:solidFill>
              </a:defRPr>
            </a:pPr>
            <a:r>
              <a:rPr sz="1275" b="1">
                <a:solidFill>
                  <a:srgbClr val="121827"/>
                </a:solidFill>
              </a:rPr>
              <a:t>Unity 6000.3.10f1</a:t>
            </a:r>
          </a:p>
        </p:txBody>
      </p:sp>
      <p:sp>
        <p:nvSpPr>
          <p:cNvPr id="19" name="rk-2">
            <a:extLst>
              <a:ext uri="{FF2B5EF4-FFF2-40B4-BE49-F238E27FC236}">
                <a16:creationId xmlns:a16="http://schemas.microsoft.com/office/drawing/2014/main" id="{7AF6D3A2-BE51-44A2-A271-7C9DC61EC597}"/>
              </a:ext>
            </a:extLst>
          </p:cNvPr>
          <p:cNvSpPr>
            <a:spLocks noGrp="1"/>
          </p:cNvSpPr>
          <p:nvPr/>
        </p:nvSpPr>
        <p:spPr>
          <a:xfrm>
            <a:off x="6572250" y="33909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60708A"/>
                </a:solidFill>
              </a:defRPr>
            </a:pPr>
            <a:r>
              <a:rPr sz="1200" b="1">
                <a:solidFill>
                  <a:srgbClr val="60708A"/>
                </a:solidFill>
              </a:rPr>
              <a:t>Rendering</a:t>
            </a:r>
          </a:p>
        </p:txBody>
      </p:sp>
      <p:sp>
        <p:nvSpPr>
          <p:cNvPr id="20" name="rv-2">
            <a:extLst>
              <a:ext uri="{FF2B5EF4-FFF2-40B4-BE49-F238E27FC236}">
                <a16:creationId xmlns:a16="http://schemas.microsoft.com/office/drawing/2014/main" id="{40DB0D0A-9C1F-46C8-AF42-9EAB29A6BCDD}"/>
              </a:ext>
            </a:extLst>
          </p:cNvPr>
          <p:cNvSpPr>
            <a:spLocks noGrp="1"/>
          </p:cNvSpPr>
          <p:nvPr/>
        </p:nvSpPr>
        <p:spPr>
          <a:xfrm>
            <a:off x="8048625" y="33909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1827"/>
                </a:solidFill>
              </a:defRPr>
            </a:pPr>
            <a:r>
              <a:rPr sz="1275" b="1">
                <a:solidFill>
                  <a:srgbClr val="121827"/>
                </a:solidFill>
              </a:rPr>
              <a:t>URP 17.3.0</a:t>
            </a:r>
          </a:p>
        </p:txBody>
      </p:sp>
      <p:sp>
        <p:nvSpPr>
          <p:cNvPr id="21" name="rk-3">
            <a:extLst>
              <a:ext uri="{FF2B5EF4-FFF2-40B4-BE49-F238E27FC236}">
                <a16:creationId xmlns:a16="http://schemas.microsoft.com/office/drawing/2014/main" id="{E90E79F5-74FD-4BAD-940E-9CC5CE0B027D}"/>
              </a:ext>
            </a:extLst>
          </p:cNvPr>
          <p:cNvSpPr>
            <a:spLocks noGrp="1"/>
          </p:cNvSpPr>
          <p:nvPr/>
        </p:nvSpPr>
        <p:spPr>
          <a:xfrm>
            <a:off x="6572250" y="38481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60708A"/>
                </a:solidFill>
              </a:defRPr>
            </a:pPr>
            <a:r>
              <a:rPr sz="1200" b="1">
                <a:solidFill>
                  <a:srgbClr val="60708A"/>
                </a:solidFill>
              </a:rPr>
              <a:t>Data stack</a:t>
            </a:r>
          </a:p>
        </p:txBody>
      </p:sp>
      <p:sp>
        <p:nvSpPr>
          <p:cNvPr id="22" name="rv-3">
            <a:extLst>
              <a:ext uri="{FF2B5EF4-FFF2-40B4-BE49-F238E27FC236}">
                <a16:creationId xmlns:a16="http://schemas.microsoft.com/office/drawing/2014/main" id="{7F6A647B-9EF2-4BFE-AFBA-C66B400A4605}"/>
              </a:ext>
            </a:extLst>
          </p:cNvPr>
          <p:cNvSpPr>
            <a:spLocks noGrp="1"/>
          </p:cNvSpPr>
          <p:nvPr/>
        </p:nvSpPr>
        <p:spPr>
          <a:xfrm>
            <a:off x="8048625" y="38481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1827"/>
                </a:solidFill>
              </a:defRPr>
            </a:pPr>
            <a:r>
              <a:rPr sz="1275" b="1">
                <a:solidFill>
                  <a:srgbClr val="121827"/>
                </a:solidFill>
              </a:rPr>
              <a:t>Entities / DOTS 1.4</a:t>
            </a:r>
          </a:p>
        </p:txBody>
      </p:sp>
      <p:sp>
        <p:nvSpPr>
          <p:cNvPr id="23" name="rk-4">
            <a:extLst>
              <a:ext uri="{FF2B5EF4-FFF2-40B4-BE49-F238E27FC236}">
                <a16:creationId xmlns:a16="http://schemas.microsoft.com/office/drawing/2014/main" id="{12120788-AD21-4EFC-8EE6-5A08AB818A4F}"/>
              </a:ext>
            </a:extLst>
          </p:cNvPr>
          <p:cNvSpPr>
            <a:spLocks noGrp="1"/>
          </p:cNvSpPr>
          <p:nvPr/>
        </p:nvSpPr>
        <p:spPr>
          <a:xfrm>
            <a:off x="6572250" y="43053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60708A"/>
                </a:solidFill>
              </a:defRPr>
            </a:pPr>
            <a:r>
              <a:rPr sz="1200" b="1">
                <a:solidFill>
                  <a:srgbClr val="60708A"/>
                </a:solidFill>
              </a:rPr>
              <a:t>Language</a:t>
            </a:r>
          </a:p>
        </p:txBody>
      </p:sp>
      <p:sp>
        <p:nvSpPr>
          <p:cNvPr id="24" name="rv-4">
            <a:extLst>
              <a:ext uri="{FF2B5EF4-FFF2-40B4-BE49-F238E27FC236}">
                <a16:creationId xmlns:a16="http://schemas.microsoft.com/office/drawing/2014/main" id="{6E7FB97B-90F8-430B-844A-8D7F6BF4D61B}"/>
              </a:ext>
            </a:extLst>
          </p:cNvPr>
          <p:cNvSpPr>
            <a:spLocks noGrp="1"/>
          </p:cNvSpPr>
          <p:nvPr/>
        </p:nvSpPr>
        <p:spPr>
          <a:xfrm>
            <a:off x="8048625" y="43053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1827"/>
                </a:solidFill>
              </a:defRPr>
            </a:pPr>
            <a:r>
              <a:rPr sz="1275" b="1">
                <a:solidFill>
                  <a:srgbClr val="121827"/>
                </a:solidFill>
              </a:rPr>
              <a:t>C#</a:t>
            </a:r>
          </a:p>
        </p:txBody>
      </p:sp>
      <p:sp>
        <p:nvSpPr>
          <p:cNvPr id="25" name="rk-5">
            <a:extLst>
              <a:ext uri="{FF2B5EF4-FFF2-40B4-BE49-F238E27FC236}">
                <a16:creationId xmlns:a16="http://schemas.microsoft.com/office/drawing/2014/main" id="{B006302A-9BA0-41E2-A5F0-5799D053FDB1}"/>
              </a:ext>
            </a:extLst>
          </p:cNvPr>
          <p:cNvSpPr>
            <a:spLocks noGrp="1"/>
          </p:cNvSpPr>
          <p:nvPr/>
        </p:nvSpPr>
        <p:spPr>
          <a:xfrm>
            <a:off x="6572250" y="47625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60708A"/>
                </a:solidFill>
              </a:defRPr>
            </a:pPr>
            <a:r>
              <a:rPr sz="1200" b="1">
                <a:solidFill>
                  <a:srgbClr val="60708A"/>
                </a:solidFill>
              </a:rPr>
              <a:t>Input</a:t>
            </a:r>
          </a:p>
        </p:txBody>
      </p:sp>
      <p:sp>
        <p:nvSpPr>
          <p:cNvPr id="26" name="rv-5">
            <a:extLst>
              <a:ext uri="{FF2B5EF4-FFF2-40B4-BE49-F238E27FC236}">
                <a16:creationId xmlns:a16="http://schemas.microsoft.com/office/drawing/2014/main" id="{ADC2F2F7-F327-481E-8A8F-CA76633AECE5}"/>
              </a:ext>
            </a:extLst>
          </p:cNvPr>
          <p:cNvSpPr>
            <a:spLocks noGrp="1"/>
          </p:cNvSpPr>
          <p:nvPr/>
        </p:nvSpPr>
        <p:spPr>
          <a:xfrm>
            <a:off x="8048625" y="47625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1827"/>
                </a:solidFill>
              </a:defRPr>
            </a:pPr>
            <a:r>
              <a:rPr sz="1275" b="1">
                <a:solidFill>
                  <a:srgbClr val="121827"/>
                </a:solidFill>
              </a:rPr>
              <a:t>Unity Input System 1.18</a:t>
            </a:r>
          </a:p>
        </p:txBody>
      </p:sp>
    </p:spTree>
    <p:extLst>
      <p:ext uri="{BB962C8B-B14F-4D97-AF65-F5344CB8AC3E}">
        <p14:creationId xmlns:p14="http://schemas.microsoft.com/office/powerpoint/2010/main" val="299462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hapter-3">
            <a:extLst>
              <a:ext uri="{FF2B5EF4-FFF2-40B4-BE49-F238E27FC236}">
                <a16:creationId xmlns:a16="http://schemas.microsoft.com/office/drawing/2014/main" id="{C94475DE-9240-4994-981B-D2D1D0FBF3A1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478C9"/>
                </a:solidFill>
              </a:defRPr>
            </a:pPr>
            <a:r>
              <a:rPr sz="1050" b="1">
                <a:solidFill>
                  <a:srgbClr val="3478C9"/>
                </a:solidFill>
              </a:rPr>
              <a:t>II. SYSTEM REQUIREMENTS ANALYSIS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F5F47768-2F57-43F8-92A3-62A9122DA159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73A66"/>
                </a:solidFill>
              </a:defRPr>
            </a:pPr>
            <a:r>
              <a:rPr sz="2700" b="1">
                <a:solidFill>
                  <a:srgbClr val="173A66"/>
                </a:solidFill>
              </a:rPr>
              <a:t>The requirements cover gameplay, scalability, UI, and persistence</a:t>
            </a:r>
          </a:p>
        </p:txBody>
      </p:sp>
      <p:sp>
        <p:nvSpPr>
          <p:cNvPr id="3" name="rule-3">
            <a:extLst>
              <a:ext uri="{FF2B5EF4-FFF2-40B4-BE49-F238E27FC236}">
                <a16:creationId xmlns:a16="http://schemas.microsoft.com/office/drawing/2014/main" id="{D53D49FF-1228-4F20-A036-7F4A26B2B796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781050" cy="38100"/>
          </a:xfrm>
          <a:prstGeom prst="rect">
            <a:avLst/>
          </a:prstGeom>
          <a:solidFill>
            <a:srgbClr val="E3B341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4" name="foot-3">
            <a:extLst>
              <a:ext uri="{FF2B5EF4-FFF2-40B4-BE49-F238E27FC236}">
                <a16:creationId xmlns:a16="http://schemas.microsoft.com/office/drawing/2014/main" id="{30E91F81-3CA0-4245-828A-353B0642BD92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GD1305  •  THE MOONSTONE</a:t>
            </a:r>
          </a:p>
        </p:txBody>
      </p:sp>
      <p:sp>
        <p:nvSpPr>
          <p:cNvPr id="5" name="page-3">
            <a:extLst>
              <a:ext uri="{FF2B5EF4-FFF2-40B4-BE49-F238E27FC236}">
                <a16:creationId xmlns:a16="http://schemas.microsoft.com/office/drawing/2014/main" id="{EB2A4DC6-1F2D-4A63-88A0-BEB6DCDD4090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03</a:t>
            </a:r>
          </a:p>
        </p:txBody>
      </p:sp>
      <p:sp>
        <p:nvSpPr>
          <p:cNvPr id="6" name="fr">
            <a:extLst>
              <a:ext uri="{FF2B5EF4-FFF2-40B4-BE49-F238E27FC236}">
                <a16:creationId xmlns:a16="http://schemas.microsoft.com/office/drawing/2014/main" id="{AADD3518-BDF6-4076-8426-2D6360725602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3478C9"/>
                </a:solidFill>
              </a:defRPr>
            </a:pPr>
            <a:r>
              <a:rPr sz="1350" b="1">
                <a:solidFill>
                  <a:srgbClr val="3478C9"/>
                </a:solidFill>
              </a:rPr>
              <a:t>FUNCTIONAL REQUIREMENTS</a:t>
            </a:r>
          </a:p>
        </p:txBody>
      </p:sp>
      <p:sp>
        <p:nvSpPr>
          <p:cNvPr id="7" name="fr-0">
            <a:extLst>
              <a:ext uri="{FF2B5EF4-FFF2-40B4-BE49-F238E27FC236}">
                <a16:creationId xmlns:a16="http://schemas.microsoft.com/office/drawing/2014/main" id="{F71D6229-A449-4D78-82BC-159B8C37DA20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21827"/>
                </a:solidFill>
              </a:defRPr>
            </a:pPr>
            <a:r>
              <a:rPr sz="1275" b="0">
                <a:solidFill>
                  <a:srgbClr val="121827"/>
                </a:solidFill>
              </a:rPr>
              <a:t>•  Start a selected stage and load GameScene</a:t>
            </a:r>
          </a:p>
        </p:txBody>
      </p:sp>
      <p:sp>
        <p:nvSpPr>
          <p:cNvPr id="8" name="fr-1">
            <a:extLst>
              <a:ext uri="{FF2B5EF4-FFF2-40B4-BE49-F238E27FC236}">
                <a16:creationId xmlns:a16="http://schemas.microsoft.com/office/drawing/2014/main" id="{EB199068-BE2B-4FA2-8F86-1D86E9A65FD8}"/>
              </a:ext>
            </a:extLst>
          </p:cNvPr>
          <p:cNvSpPr>
            <a:spLocks noGrp="1"/>
          </p:cNvSpPr>
          <p:nvPr/>
        </p:nvSpPr>
        <p:spPr>
          <a:xfrm>
            <a:off x="685800" y="2619375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21827"/>
                </a:solidFill>
              </a:defRPr>
            </a:pPr>
            <a:r>
              <a:rPr sz="1275" b="0">
                <a:solidFill>
                  <a:srgbClr val="121827"/>
                </a:solidFill>
              </a:rPr>
              <a:t>•  Acquire targets and process projectiles, damage, death, and XP</a:t>
            </a:r>
          </a:p>
        </p:txBody>
      </p:sp>
      <p:sp>
        <p:nvSpPr>
          <p:cNvPr id="9" name="fr-2">
            <a:extLst>
              <a:ext uri="{FF2B5EF4-FFF2-40B4-BE49-F238E27FC236}">
                <a16:creationId xmlns:a16="http://schemas.microsoft.com/office/drawing/2014/main" id="{C5A4AB41-20B3-4DFE-8687-2422618C726A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21827"/>
                </a:solidFill>
              </a:defRPr>
            </a:pPr>
            <a:r>
              <a:rPr sz="1275" b="0">
                <a:solidFill>
                  <a:srgbClr val="121827"/>
                </a:solidFill>
              </a:rPr>
              <a:t>•  Spawn enemies by wave, prefab, schedule, and alive limit</a:t>
            </a:r>
          </a:p>
        </p:txBody>
      </p:sp>
      <p:sp>
        <p:nvSpPr>
          <p:cNvPr id="10" name="fr-3">
            <a:extLst>
              <a:ext uri="{FF2B5EF4-FFF2-40B4-BE49-F238E27FC236}">
                <a16:creationId xmlns:a16="http://schemas.microsoft.com/office/drawing/2014/main" id="{F0524FC3-3919-4638-A073-BEB9B752DB9D}"/>
              </a:ext>
            </a:extLst>
          </p:cNvPr>
          <p:cNvSpPr>
            <a:spLocks noGrp="1"/>
          </p:cNvSpPr>
          <p:nvPr/>
        </p:nvSpPr>
        <p:spPr>
          <a:xfrm>
            <a:off x="685800" y="3667125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21827"/>
                </a:solidFill>
              </a:defRPr>
            </a:pPr>
            <a:r>
              <a:rPr sz="1275" b="0">
                <a:solidFill>
                  <a:srgbClr val="121827"/>
                </a:solidFill>
              </a:rPr>
              <a:t>•  Display Canvas HUD and level-up choices</a:t>
            </a:r>
          </a:p>
        </p:txBody>
      </p:sp>
      <p:sp>
        <p:nvSpPr>
          <p:cNvPr id="11" name="fr-4">
            <a:extLst>
              <a:ext uri="{FF2B5EF4-FFF2-40B4-BE49-F238E27FC236}">
                <a16:creationId xmlns:a16="http://schemas.microsoft.com/office/drawing/2014/main" id="{BCDABFD5-6C93-4118-AB4F-C9384332E748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21827"/>
                </a:solidFill>
              </a:defRPr>
            </a:pPr>
            <a:r>
              <a:rPr sz="1275" b="0">
                <a:solidFill>
                  <a:srgbClr val="121827"/>
                </a:solidFill>
              </a:rPr>
              <a:t>•  Pause, resume, configure settings, and persist progression</a:t>
            </a:r>
          </a:p>
        </p:txBody>
      </p:sp>
      <p:sp>
        <p:nvSpPr>
          <p:cNvPr id="12" name="fr-5">
            <a:extLst>
              <a:ext uri="{FF2B5EF4-FFF2-40B4-BE49-F238E27FC236}">
                <a16:creationId xmlns:a16="http://schemas.microsoft.com/office/drawing/2014/main" id="{F04CF6FD-9EC0-4A5F-8C16-DB4B35F2D319}"/>
              </a:ext>
            </a:extLst>
          </p:cNvPr>
          <p:cNvSpPr>
            <a:spLocks noGrp="1"/>
          </p:cNvSpPr>
          <p:nvPr/>
        </p:nvSpPr>
        <p:spPr>
          <a:xfrm>
            <a:off x="685800" y="4714875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21827"/>
                </a:solidFill>
              </a:defRPr>
            </a:pPr>
            <a:r>
              <a:rPr sz="1275" b="0">
                <a:solidFill>
                  <a:srgbClr val="121827"/>
                </a:solidFill>
              </a:rPr>
              <a:t>•  Finish a stage with Win or Game Over</a:t>
            </a:r>
          </a:p>
        </p:txBody>
      </p:sp>
      <p:sp>
        <p:nvSpPr>
          <p:cNvPr id="13" name="nfr-box">
            <a:extLst>
              <a:ext uri="{FF2B5EF4-FFF2-40B4-BE49-F238E27FC236}">
                <a16:creationId xmlns:a16="http://schemas.microsoft.com/office/drawing/2014/main" id="{FBB4DA8A-A0EC-4B1B-9055-7D625F0BFB88}"/>
              </a:ext>
            </a:extLst>
          </p:cNvPr>
          <p:cNvSpPr>
            <a:spLocks noGrp="1"/>
          </p:cNvSpPr>
          <p:nvPr/>
        </p:nvSpPr>
        <p:spPr>
          <a:xfrm>
            <a:off x="6286500" y="1666875"/>
            <a:ext cx="5219700" cy="3714750"/>
          </a:xfrm>
          <a:prstGeom prst="roundRect">
            <a:avLst>
              <a:gd name="adj" fmla="val 4103"/>
            </a:avLst>
          </a:prstGeom>
          <a:solidFill>
            <a:srgbClr val="F6F8FB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14" name="nfr">
            <a:extLst>
              <a:ext uri="{FF2B5EF4-FFF2-40B4-BE49-F238E27FC236}">
                <a16:creationId xmlns:a16="http://schemas.microsoft.com/office/drawing/2014/main" id="{A1F3FF69-6498-419B-9505-38085BF2CAA6}"/>
              </a:ext>
            </a:extLst>
          </p:cNvPr>
          <p:cNvSpPr>
            <a:spLocks noGrp="1"/>
          </p:cNvSpPr>
          <p:nvPr/>
        </p:nvSpPr>
        <p:spPr>
          <a:xfrm>
            <a:off x="6667500" y="1952625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3478C9"/>
                </a:solidFill>
              </a:defRPr>
            </a:pPr>
            <a:r>
              <a:rPr sz="1350" b="1">
                <a:solidFill>
                  <a:srgbClr val="3478C9"/>
                </a:solidFill>
              </a:rPr>
              <a:t>NON-FUNCTIONAL REQUIREMENTS</a:t>
            </a:r>
          </a:p>
        </p:txBody>
      </p:sp>
      <p:sp>
        <p:nvSpPr>
          <p:cNvPr id="15" name="nf-0">
            <a:extLst>
              <a:ext uri="{FF2B5EF4-FFF2-40B4-BE49-F238E27FC236}">
                <a16:creationId xmlns:a16="http://schemas.microsoft.com/office/drawing/2014/main" id="{A1BA6446-F815-4119-AAD1-FB05452A5882}"/>
              </a:ext>
            </a:extLst>
          </p:cNvPr>
          <p:cNvSpPr>
            <a:spLocks noGrp="1"/>
          </p:cNvSpPr>
          <p:nvPr/>
        </p:nvSpPr>
        <p:spPr>
          <a:xfrm>
            <a:off x="6667500" y="2428875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21827"/>
                </a:solidFill>
              </a:defRPr>
            </a:pPr>
            <a:r>
              <a:rPr sz="1275" b="0">
                <a:solidFill>
                  <a:srgbClr val="121827"/>
                </a:solidFill>
              </a:rPr>
              <a:t>•  Stable performance with many Entity enemies</a:t>
            </a:r>
          </a:p>
        </p:txBody>
      </p:sp>
      <p:sp>
        <p:nvSpPr>
          <p:cNvPr id="16" name="nf-1">
            <a:extLst>
              <a:ext uri="{FF2B5EF4-FFF2-40B4-BE49-F238E27FC236}">
                <a16:creationId xmlns:a16="http://schemas.microsoft.com/office/drawing/2014/main" id="{14D77DBD-A06E-4E47-82BE-504C77B025BD}"/>
              </a:ext>
            </a:extLst>
          </p:cNvPr>
          <p:cNvSpPr>
            <a:spLocks noGrp="1"/>
          </p:cNvSpPr>
          <p:nvPr/>
        </p:nvSpPr>
        <p:spPr>
          <a:xfrm>
            <a:off x="6667500" y="2981325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21827"/>
                </a:solidFill>
              </a:defRPr>
            </a:pPr>
            <a:r>
              <a:rPr sz="1275" b="0">
                <a:solidFill>
                  <a:srgbClr val="121827"/>
                </a:solidFill>
              </a:rPr>
              <a:t>•  Inspector-editable Canvas prefabs</a:t>
            </a:r>
          </a:p>
        </p:txBody>
      </p:sp>
      <p:sp>
        <p:nvSpPr>
          <p:cNvPr id="17" name="nf-2">
            <a:extLst>
              <a:ext uri="{FF2B5EF4-FFF2-40B4-BE49-F238E27FC236}">
                <a16:creationId xmlns:a16="http://schemas.microsoft.com/office/drawing/2014/main" id="{D24D84E3-A794-4748-86CD-CB4782FBD213}"/>
              </a:ext>
            </a:extLst>
          </p:cNvPr>
          <p:cNvSpPr>
            <a:spLocks noGrp="1"/>
          </p:cNvSpPr>
          <p:nvPr/>
        </p:nvSpPr>
        <p:spPr>
          <a:xfrm>
            <a:off x="6667500" y="3533775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21827"/>
                </a:solidFill>
              </a:defRPr>
            </a:pPr>
            <a:r>
              <a:rPr sz="1275" b="0">
                <a:solidFill>
                  <a:srgbClr val="121827"/>
                </a:solidFill>
              </a:rPr>
              <a:t>•  ScriptableObject-driven gameplay values</a:t>
            </a:r>
          </a:p>
        </p:txBody>
      </p:sp>
      <p:sp>
        <p:nvSpPr>
          <p:cNvPr id="18" name="nf-3">
            <a:extLst>
              <a:ext uri="{FF2B5EF4-FFF2-40B4-BE49-F238E27FC236}">
                <a16:creationId xmlns:a16="http://schemas.microsoft.com/office/drawing/2014/main" id="{71987720-7CA7-4A65-A8DD-0F74C42AEF8E}"/>
              </a:ext>
            </a:extLst>
          </p:cNvPr>
          <p:cNvSpPr>
            <a:spLocks noGrp="1"/>
          </p:cNvSpPr>
          <p:nvPr/>
        </p:nvSpPr>
        <p:spPr>
          <a:xfrm>
            <a:off x="6667500" y="4086225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21827"/>
                </a:solidFill>
              </a:defRPr>
            </a:pPr>
            <a:r>
              <a:rPr sz="1275" b="0">
                <a:solidFill>
                  <a:srgbClr val="121827"/>
                </a:solidFill>
              </a:rPr>
              <a:t>•  Movement-synchronized visual animation</a:t>
            </a:r>
          </a:p>
        </p:txBody>
      </p:sp>
      <p:sp>
        <p:nvSpPr>
          <p:cNvPr id="19" name="nf-4">
            <a:extLst>
              <a:ext uri="{FF2B5EF4-FFF2-40B4-BE49-F238E27FC236}">
                <a16:creationId xmlns:a16="http://schemas.microsoft.com/office/drawing/2014/main" id="{80FB3B82-FD86-4844-BD30-DCC7AECAFE59}"/>
              </a:ext>
            </a:extLst>
          </p:cNvPr>
          <p:cNvSpPr>
            <a:spLocks noGrp="1"/>
          </p:cNvSpPr>
          <p:nvPr/>
        </p:nvSpPr>
        <p:spPr>
          <a:xfrm>
            <a:off x="6667500" y="4638675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21827"/>
                </a:solidFill>
              </a:defRPr>
            </a:pPr>
            <a:r>
              <a:rPr sz="1275" b="0">
                <a:solidFill>
                  <a:srgbClr val="121827"/>
                </a:solidFill>
              </a:rPr>
              <a:t>•  Safe local defaults and wave validation</a:t>
            </a:r>
          </a:p>
        </p:txBody>
      </p:sp>
    </p:spTree>
    <p:extLst>
      <p:ext uri="{BB962C8B-B14F-4D97-AF65-F5344CB8AC3E}">
        <p14:creationId xmlns:p14="http://schemas.microsoft.com/office/powerpoint/2010/main" val="1124623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pter-4">
            <a:extLst>
              <a:ext uri="{FF2B5EF4-FFF2-40B4-BE49-F238E27FC236}">
                <a16:creationId xmlns:a16="http://schemas.microsoft.com/office/drawing/2014/main" id="{DCCD4599-84A6-45C6-9209-84F8284E4DC1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478C9"/>
                </a:solidFill>
              </a:defRPr>
            </a:pPr>
            <a:r>
              <a:rPr sz="1050" b="1">
                <a:solidFill>
                  <a:srgbClr val="3478C9"/>
                </a:solidFill>
              </a:rPr>
              <a:t>II. SYSTEM REQUIREMENTS ANALYSIS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E38AA1CF-ADC6-49AC-A8F8-29AFECD1594D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73A66"/>
                </a:solidFill>
              </a:defRPr>
            </a:pPr>
            <a:r>
              <a:rPr sz="2700" b="1">
                <a:solidFill>
                  <a:srgbClr val="173A66"/>
                </a:solidFill>
              </a:rPr>
              <a:t>4. Use Case Diagram</a:t>
            </a:r>
          </a:p>
        </p:txBody>
      </p:sp>
      <p:sp>
        <p:nvSpPr>
          <p:cNvPr id="3" name="rule-4">
            <a:extLst>
              <a:ext uri="{FF2B5EF4-FFF2-40B4-BE49-F238E27FC236}">
                <a16:creationId xmlns:a16="http://schemas.microsoft.com/office/drawing/2014/main" id="{4E4E8AED-8EB8-4198-8EE3-DF6722AE072B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781050" cy="38100"/>
          </a:xfrm>
          <a:prstGeom prst="rect">
            <a:avLst/>
          </a:prstGeom>
          <a:solidFill>
            <a:srgbClr val="E3B341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4" name="foot-4">
            <a:extLst>
              <a:ext uri="{FF2B5EF4-FFF2-40B4-BE49-F238E27FC236}">
                <a16:creationId xmlns:a16="http://schemas.microsoft.com/office/drawing/2014/main" id="{314F593E-832F-4B7E-B11F-68EB649E9C98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GD1305  •  THE MOONSTONE</a:t>
            </a:r>
          </a:p>
        </p:txBody>
      </p:sp>
      <p:sp>
        <p:nvSpPr>
          <p:cNvPr id="5" name="page-4">
            <a:extLst>
              <a:ext uri="{FF2B5EF4-FFF2-40B4-BE49-F238E27FC236}">
                <a16:creationId xmlns:a16="http://schemas.microsoft.com/office/drawing/2014/main" id="{F7E79473-7C6E-4362-8AC5-E28AFAE3AEF5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04</a:t>
            </a:r>
          </a:p>
        </p:txBody>
      </p:sp>
      <p:sp>
        <p:nvSpPr>
          <p:cNvPr id="6" name="frame">
            <a:extLst>
              <a:ext uri="{FF2B5EF4-FFF2-40B4-BE49-F238E27FC236}">
                <a16:creationId xmlns:a16="http://schemas.microsoft.com/office/drawing/2014/main" id="{6E0CC28C-EDA9-484D-870F-E10F811D8F73}"/>
              </a:ext>
            </a:extLst>
          </p:cNvPr>
          <p:cNvSpPr>
            <a:spLocks noGrp="1"/>
          </p:cNvSpPr>
          <p:nvPr/>
        </p:nvSpPr>
        <p:spPr>
          <a:xfrm>
            <a:off x="1333500" y="1524000"/>
            <a:ext cx="9525000" cy="4619625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34345" y="1900518"/>
            <a:ext cx="4523309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830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-5">
            <a:extLst>
              <a:ext uri="{FF2B5EF4-FFF2-40B4-BE49-F238E27FC236}">
                <a16:creationId xmlns:a16="http://schemas.microsoft.com/office/drawing/2014/main" id="{93CA6791-B541-48E8-BD6B-6A86F5BAD6D0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478C9"/>
                </a:solidFill>
              </a:defRPr>
            </a:pPr>
            <a:r>
              <a:rPr sz="1050" b="1">
                <a:solidFill>
                  <a:srgbClr val="3478C9"/>
                </a:solidFill>
              </a:rPr>
              <a:t>II. SYSTEM REQUIREMENTS ANALYSIS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1B6F2297-35F8-478C-B42B-341CEA5F61BC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73A66"/>
                </a:solidFill>
              </a:defRPr>
            </a:pPr>
            <a:r>
              <a:rPr sz="2700" b="1">
                <a:solidFill>
                  <a:srgbClr val="173A66"/>
                </a:solidFill>
              </a:rPr>
              <a:t>5. Use Case Descriptions</a:t>
            </a:r>
          </a:p>
        </p:txBody>
      </p:sp>
      <p:sp>
        <p:nvSpPr>
          <p:cNvPr id="3" name="rule-5">
            <a:extLst>
              <a:ext uri="{FF2B5EF4-FFF2-40B4-BE49-F238E27FC236}">
                <a16:creationId xmlns:a16="http://schemas.microsoft.com/office/drawing/2014/main" id="{204B1E97-642C-4199-91FF-CB7FC7841202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781050" cy="38100"/>
          </a:xfrm>
          <a:prstGeom prst="rect">
            <a:avLst/>
          </a:prstGeom>
          <a:solidFill>
            <a:srgbClr val="E3B341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4" name="foot-5">
            <a:extLst>
              <a:ext uri="{FF2B5EF4-FFF2-40B4-BE49-F238E27FC236}">
                <a16:creationId xmlns:a16="http://schemas.microsoft.com/office/drawing/2014/main" id="{AAD9DC7E-BF39-4D5A-A626-C20A6D259447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GD1305  •  THE MOONSTONE</a:t>
            </a:r>
          </a:p>
        </p:txBody>
      </p:sp>
      <p:sp>
        <p:nvSpPr>
          <p:cNvPr id="5" name="page-5">
            <a:extLst>
              <a:ext uri="{FF2B5EF4-FFF2-40B4-BE49-F238E27FC236}">
                <a16:creationId xmlns:a16="http://schemas.microsoft.com/office/drawing/2014/main" id="{73844398-45F0-407D-BD83-9B98A0744334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05</a:t>
            </a:r>
          </a:p>
        </p:txBody>
      </p:sp>
      <p:sp>
        <p:nvSpPr>
          <p:cNvPr id="6" name="uc-range-1">
            <a:extLst>
              <a:ext uri="{FF2B5EF4-FFF2-40B4-BE49-F238E27FC236}">
                <a16:creationId xmlns:a16="http://schemas.microsoft.com/office/drawing/2014/main" id="{23A2CB58-B0ED-4C84-BEE2-14121C4A2E95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0708A"/>
                </a:solidFill>
              </a:defRPr>
            </a:pPr>
            <a:r>
              <a:rPr sz="1125" b="1">
                <a:solidFill>
                  <a:srgbClr val="60708A"/>
                </a:solidFill>
              </a:rPr>
              <a:t>UC-01 to UC-04  •  Player entry and progression</a:t>
            </a:r>
          </a:p>
        </p:txBody>
      </p:sp>
      <p:sp>
        <p:nvSpPr>
          <p:cNvPr id="7" name="ucb-1">
            <a:extLst>
              <a:ext uri="{FF2B5EF4-FFF2-40B4-BE49-F238E27FC236}">
                <a16:creationId xmlns:a16="http://schemas.microsoft.com/office/drawing/2014/main" id="{948145FC-E855-4B2F-BAC9-3510514A3E81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5238750" cy="1123950"/>
          </a:xfrm>
          <a:prstGeom prst="roundRect">
            <a:avLst>
              <a:gd name="adj" fmla="val 10169"/>
            </a:avLst>
          </a:prstGeom>
          <a:solidFill>
            <a:srgbClr val="FFF5D8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8" name="uci-1">
            <a:extLst>
              <a:ext uri="{FF2B5EF4-FFF2-40B4-BE49-F238E27FC236}">
                <a16:creationId xmlns:a16="http://schemas.microsoft.com/office/drawing/2014/main" id="{6723D4F4-8F5E-4455-9A9D-B7ADF6D14946}"/>
              </a:ext>
            </a:extLst>
          </p:cNvPr>
          <p:cNvSpPr>
            <a:spLocks noGrp="1"/>
          </p:cNvSpPr>
          <p:nvPr/>
        </p:nvSpPr>
        <p:spPr>
          <a:xfrm>
            <a:off x="857250" y="1800225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478C9"/>
                </a:solidFill>
              </a:defRPr>
            </a:pPr>
            <a:r>
              <a:rPr sz="1050" b="1">
                <a:solidFill>
                  <a:srgbClr val="3478C9"/>
                </a:solidFill>
              </a:rPr>
              <a:t>UC-01</a:t>
            </a:r>
          </a:p>
        </p:txBody>
      </p:sp>
      <p:sp>
        <p:nvSpPr>
          <p:cNvPr id="9" name="uct-1">
            <a:extLst>
              <a:ext uri="{FF2B5EF4-FFF2-40B4-BE49-F238E27FC236}">
                <a16:creationId xmlns:a16="http://schemas.microsoft.com/office/drawing/2014/main" id="{78F868C1-6BE4-4BF9-90F1-8A069F561202}"/>
              </a:ext>
            </a:extLst>
          </p:cNvPr>
          <p:cNvSpPr>
            <a:spLocks noGrp="1"/>
          </p:cNvSpPr>
          <p:nvPr/>
        </p:nvSpPr>
        <p:spPr>
          <a:xfrm>
            <a:off x="857250" y="2057400"/>
            <a:ext cx="489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73A66"/>
                </a:solidFill>
              </a:defRPr>
            </a:pPr>
            <a:r>
              <a:rPr sz="1500" b="1">
                <a:solidFill>
                  <a:srgbClr val="173A66"/>
                </a:solidFill>
              </a:rPr>
              <a:t>Play Game</a:t>
            </a:r>
          </a:p>
        </p:txBody>
      </p:sp>
      <p:sp>
        <p:nvSpPr>
          <p:cNvPr id="10" name="uca-1">
            <a:extLst>
              <a:ext uri="{FF2B5EF4-FFF2-40B4-BE49-F238E27FC236}">
                <a16:creationId xmlns:a16="http://schemas.microsoft.com/office/drawing/2014/main" id="{06F93ABF-70AA-49C8-AF1E-61C84EDD0A4C}"/>
              </a:ext>
            </a:extLst>
          </p:cNvPr>
          <p:cNvSpPr>
            <a:spLocks noGrp="1"/>
          </p:cNvSpPr>
          <p:nvPr/>
        </p:nvSpPr>
        <p:spPr>
          <a:xfrm>
            <a:off x="857250" y="2390775"/>
            <a:ext cx="489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21827"/>
                </a:solidFill>
              </a:defRPr>
            </a:pPr>
            <a:r>
              <a:rPr sz="1125" b="0">
                <a:solidFill>
                  <a:srgbClr val="121827"/>
                </a:solidFill>
              </a:rPr>
              <a:t>Player  •  Enter the gameplay loop and initialize the stage.</a:t>
            </a:r>
          </a:p>
        </p:txBody>
      </p:sp>
      <p:sp>
        <p:nvSpPr>
          <p:cNvPr id="11" name="ucb-2">
            <a:extLst>
              <a:ext uri="{FF2B5EF4-FFF2-40B4-BE49-F238E27FC236}">
                <a16:creationId xmlns:a16="http://schemas.microsoft.com/office/drawing/2014/main" id="{DCC51C24-2081-4A04-A56B-80D27BFA21A7}"/>
              </a:ext>
            </a:extLst>
          </p:cNvPr>
          <p:cNvSpPr>
            <a:spLocks noGrp="1"/>
          </p:cNvSpPr>
          <p:nvPr/>
        </p:nvSpPr>
        <p:spPr>
          <a:xfrm>
            <a:off x="6267450" y="1666875"/>
            <a:ext cx="5238750" cy="1123950"/>
          </a:xfrm>
          <a:prstGeom prst="roundRect">
            <a:avLst>
              <a:gd name="adj" fmla="val 10169"/>
            </a:avLst>
          </a:prstGeom>
          <a:solidFill>
            <a:srgbClr val="EAF2FB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12" name="uci-2">
            <a:extLst>
              <a:ext uri="{FF2B5EF4-FFF2-40B4-BE49-F238E27FC236}">
                <a16:creationId xmlns:a16="http://schemas.microsoft.com/office/drawing/2014/main" id="{4F5A74F4-6436-4290-9BBF-4168F52C9C23}"/>
              </a:ext>
            </a:extLst>
          </p:cNvPr>
          <p:cNvSpPr>
            <a:spLocks noGrp="1"/>
          </p:cNvSpPr>
          <p:nvPr/>
        </p:nvSpPr>
        <p:spPr>
          <a:xfrm>
            <a:off x="6438900" y="1800225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478C9"/>
                </a:solidFill>
              </a:defRPr>
            </a:pPr>
            <a:r>
              <a:rPr sz="1050" b="1">
                <a:solidFill>
                  <a:srgbClr val="3478C9"/>
                </a:solidFill>
              </a:rPr>
              <a:t>UC-02</a:t>
            </a:r>
          </a:p>
        </p:txBody>
      </p:sp>
      <p:sp>
        <p:nvSpPr>
          <p:cNvPr id="13" name="uct-2">
            <a:extLst>
              <a:ext uri="{FF2B5EF4-FFF2-40B4-BE49-F238E27FC236}">
                <a16:creationId xmlns:a16="http://schemas.microsoft.com/office/drawing/2014/main" id="{7036A696-4800-42B6-923D-FD728FDBEC2E}"/>
              </a:ext>
            </a:extLst>
          </p:cNvPr>
          <p:cNvSpPr>
            <a:spLocks noGrp="1"/>
          </p:cNvSpPr>
          <p:nvPr/>
        </p:nvSpPr>
        <p:spPr>
          <a:xfrm>
            <a:off x="6438900" y="2057400"/>
            <a:ext cx="489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73A66"/>
                </a:solidFill>
              </a:defRPr>
            </a:pPr>
            <a:r>
              <a:rPr sz="1500" b="1">
                <a:solidFill>
                  <a:srgbClr val="173A66"/>
                </a:solidFill>
              </a:rPr>
              <a:t>Action</a:t>
            </a:r>
          </a:p>
        </p:txBody>
      </p:sp>
      <p:sp>
        <p:nvSpPr>
          <p:cNvPr id="14" name="uca-2">
            <a:extLst>
              <a:ext uri="{FF2B5EF4-FFF2-40B4-BE49-F238E27FC236}">
                <a16:creationId xmlns:a16="http://schemas.microsoft.com/office/drawing/2014/main" id="{3BEABC84-D8B2-44E9-A937-BC352F24F5EA}"/>
              </a:ext>
            </a:extLst>
          </p:cNvPr>
          <p:cNvSpPr>
            <a:spLocks noGrp="1"/>
          </p:cNvSpPr>
          <p:nvPr/>
        </p:nvSpPr>
        <p:spPr>
          <a:xfrm>
            <a:off x="6438900" y="2390775"/>
            <a:ext cx="489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21827"/>
                </a:solidFill>
              </a:defRPr>
            </a:pPr>
            <a:r>
              <a:rPr sz="1125" b="0">
                <a:solidFill>
                  <a:srgbClr val="121827"/>
                </a:solidFill>
              </a:rPr>
              <a:t>Player  •  Move, avoid enemies, and interact during Running state.</a:t>
            </a:r>
          </a:p>
        </p:txBody>
      </p:sp>
      <p:sp>
        <p:nvSpPr>
          <p:cNvPr id="15" name="ucb-3">
            <a:extLst>
              <a:ext uri="{FF2B5EF4-FFF2-40B4-BE49-F238E27FC236}">
                <a16:creationId xmlns:a16="http://schemas.microsoft.com/office/drawing/2014/main" id="{E01BC37E-5586-475A-96A7-3AD89EADC508}"/>
              </a:ext>
            </a:extLst>
          </p:cNvPr>
          <p:cNvSpPr>
            <a:spLocks noGrp="1"/>
          </p:cNvSpPr>
          <p:nvPr/>
        </p:nvSpPr>
        <p:spPr>
          <a:xfrm>
            <a:off x="685800" y="3095625"/>
            <a:ext cx="5238750" cy="1123950"/>
          </a:xfrm>
          <a:prstGeom prst="roundRect">
            <a:avLst>
              <a:gd name="adj" fmla="val 10169"/>
            </a:avLst>
          </a:prstGeom>
          <a:solidFill>
            <a:srgbClr val="FFF5D8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16" name="uci-3">
            <a:extLst>
              <a:ext uri="{FF2B5EF4-FFF2-40B4-BE49-F238E27FC236}">
                <a16:creationId xmlns:a16="http://schemas.microsoft.com/office/drawing/2014/main" id="{AB0BEF0E-AD00-4858-8E10-16F27E61E3FA}"/>
              </a:ext>
            </a:extLst>
          </p:cNvPr>
          <p:cNvSpPr>
            <a:spLocks noGrp="1"/>
          </p:cNvSpPr>
          <p:nvPr/>
        </p:nvSpPr>
        <p:spPr>
          <a:xfrm>
            <a:off x="857250" y="3228975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478C9"/>
                </a:solidFill>
              </a:defRPr>
            </a:pPr>
            <a:r>
              <a:rPr sz="1050" b="1">
                <a:solidFill>
                  <a:srgbClr val="3478C9"/>
                </a:solidFill>
              </a:rPr>
              <a:t>UC-03</a:t>
            </a:r>
          </a:p>
        </p:txBody>
      </p:sp>
      <p:sp>
        <p:nvSpPr>
          <p:cNvPr id="17" name="uct-3">
            <a:extLst>
              <a:ext uri="{FF2B5EF4-FFF2-40B4-BE49-F238E27FC236}">
                <a16:creationId xmlns:a16="http://schemas.microsoft.com/office/drawing/2014/main" id="{4770DF32-8701-42A9-AB8B-F90A5B99C6BF}"/>
              </a:ext>
            </a:extLst>
          </p:cNvPr>
          <p:cNvSpPr>
            <a:spLocks noGrp="1"/>
          </p:cNvSpPr>
          <p:nvPr/>
        </p:nvSpPr>
        <p:spPr>
          <a:xfrm>
            <a:off x="857250" y="3486150"/>
            <a:ext cx="489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73A66"/>
                </a:solidFill>
              </a:defRPr>
            </a:pPr>
            <a:r>
              <a:rPr sz="1500" b="1">
                <a:solidFill>
                  <a:srgbClr val="173A66"/>
                </a:solidFill>
              </a:rPr>
              <a:t>Switch Weapon</a:t>
            </a:r>
          </a:p>
        </p:txBody>
      </p:sp>
      <p:sp>
        <p:nvSpPr>
          <p:cNvPr id="18" name="uca-3">
            <a:extLst>
              <a:ext uri="{FF2B5EF4-FFF2-40B4-BE49-F238E27FC236}">
                <a16:creationId xmlns:a16="http://schemas.microsoft.com/office/drawing/2014/main" id="{B00B5441-57D5-41DF-8579-B9FC453A8F98}"/>
              </a:ext>
            </a:extLst>
          </p:cNvPr>
          <p:cNvSpPr>
            <a:spLocks noGrp="1"/>
          </p:cNvSpPr>
          <p:nvPr/>
        </p:nvSpPr>
        <p:spPr>
          <a:xfrm>
            <a:off x="857250" y="3819525"/>
            <a:ext cx="489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21827"/>
                </a:solidFill>
              </a:defRPr>
            </a:pPr>
            <a:r>
              <a:rPr sz="1125" b="0">
                <a:solidFill>
                  <a:srgbClr val="121827"/>
                </a:solidFill>
              </a:rPr>
              <a:t>Player  •  Select another valid weapon and apply its current statistics.</a:t>
            </a:r>
          </a:p>
        </p:txBody>
      </p:sp>
      <p:sp>
        <p:nvSpPr>
          <p:cNvPr id="19" name="ucb-4">
            <a:extLst>
              <a:ext uri="{FF2B5EF4-FFF2-40B4-BE49-F238E27FC236}">
                <a16:creationId xmlns:a16="http://schemas.microsoft.com/office/drawing/2014/main" id="{A3F817B3-46D1-4A30-A0C5-B9F077E93138}"/>
              </a:ext>
            </a:extLst>
          </p:cNvPr>
          <p:cNvSpPr>
            <a:spLocks noGrp="1"/>
          </p:cNvSpPr>
          <p:nvPr/>
        </p:nvSpPr>
        <p:spPr>
          <a:xfrm>
            <a:off x="6267450" y="3095625"/>
            <a:ext cx="5238750" cy="1123950"/>
          </a:xfrm>
          <a:prstGeom prst="roundRect">
            <a:avLst>
              <a:gd name="adj" fmla="val 10169"/>
            </a:avLst>
          </a:prstGeom>
          <a:solidFill>
            <a:srgbClr val="EAF2FB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20" name="uci-4">
            <a:extLst>
              <a:ext uri="{FF2B5EF4-FFF2-40B4-BE49-F238E27FC236}">
                <a16:creationId xmlns:a16="http://schemas.microsoft.com/office/drawing/2014/main" id="{A3FF8E63-FF3B-4F1A-B456-0BEA12B02454}"/>
              </a:ext>
            </a:extLst>
          </p:cNvPr>
          <p:cNvSpPr>
            <a:spLocks noGrp="1"/>
          </p:cNvSpPr>
          <p:nvPr/>
        </p:nvSpPr>
        <p:spPr>
          <a:xfrm>
            <a:off x="6438900" y="3228975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478C9"/>
                </a:solidFill>
              </a:defRPr>
            </a:pPr>
            <a:r>
              <a:rPr sz="1050" b="1">
                <a:solidFill>
                  <a:srgbClr val="3478C9"/>
                </a:solidFill>
              </a:rPr>
              <a:t>UC-04</a:t>
            </a:r>
          </a:p>
        </p:txBody>
      </p:sp>
      <p:sp>
        <p:nvSpPr>
          <p:cNvPr id="21" name="uct-4">
            <a:extLst>
              <a:ext uri="{FF2B5EF4-FFF2-40B4-BE49-F238E27FC236}">
                <a16:creationId xmlns:a16="http://schemas.microsoft.com/office/drawing/2014/main" id="{A850EE70-11AD-4CD8-BC98-895396FC0833}"/>
              </a:ext>
            </a:extLst>
          </p:cNvPr>
          <p:cNvSpPr>
            <a:spLocks noGrp="1"/>
          </p:cNvSpPr>
          <p:nvPr/>
        </p:nvSpPr>
        <p:spPr>
          <a:xfrm>
            <a:off x="6438900" y="3486150"/>
            <a:ext cx="489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73A66"/>
                </a:solidFill>
              </a:defRPr>
            </a:pPr>
            <a:r>
              <a:rPr sz="1500" b="1">
                <a:solidFill>
                  <a:srgbClr val="173A66"/>
                </a:solidFill>
              </a:rPr>
              <a:t>Upgrade Weapon</a:t>
            </a:r>
          </a:p>
        </p:txBody>
      </p:sp>
      <p:sp>
        <p:nvSpPr>
          <p:cNvPr id="22" name="uca-4">
            <a:extLst>
              <a:ext uri="{FF2B5EF4-FFF2-40B4-BE49-F238E27FC236}">
                <a16:creationId xmlns:a16="http://schemas.microsoft.com/office/drawing/2014/main" id="{63432575-1E0A-4376-A88D-23F62D7ED68F}"/>
              </a:ext>
            </a:extLst>
          </p:cNvPr>
          <p:cNvSpPr>
            <a:spLocks noGrp="1"/>
          </p:cNvSpPr>
          <p:nvPr/>
        </p:nvSpPr>
        <p:spPr>
          <a:xfrm>
            <a:off x="6438900" y="3819525"/>
            <a:ext cx="489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21827"/>
                </a:solidFill>
              </a:defRPr>
            </a:pPr>
            <a:r>
              <a:rPr sz="1125" b="0">
                <a:solidFill>
                  <a:srgbClr val="121827"/>
                </a:solidFill>
              </a:rPr>
              <a:t>Player  •  Choose a weapon modifier at an upgrade opportunity.</a:t>
            </a:r>
          </a:p>
        </p:txBody>
      </p:sp>
      <p:sp>
        <p:nvSpPr>
          <p:cNvPr id="23" name="uc-note">
            <a:extLst>
              <a:ext uri="{FF2B5EF4-FFF2-40B4-BE49-F238E27FC236}">
                <a16:creationId xmlns:a16="http://schemas.microsoft.com/office/drawing/2014/main" id="{8B4AD60B-F116-4474-A1CB-C9D33C56645E}"/>
              </a:ext>
            </a:extLst>
          </p:cNvPr>
          <p:cNvSpPr>
            <a:spLocks noGrp="1"/>
          </p:cNvSpPr>
          <p:nvPr/>
        </p:nvSpPr>
        <p:spPr>
          <a:xfrm>
            <a:off x="1714500" y="4953000"/>
            <a:ext cx="876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21827"/>
                </a:solidFill>
              </a:defRPr>
            </a:pPr>
            <a:r>
              <a:rPr sz="1575" b="1">
                <a:solidFill>
                  <a:srgbClr val="121827"/>
                </a:solidFill>
              </a:rPr>
              <a:t>Player actions are ignored while paused, during Level Up selection, or after Win / Game Over.</a:t>
            </a:r>
          </a:p>
        </p:txBody>
      </p:sp>
    </p:spTree>
    <p:extLst>
      <p:ext uri="{BB962C8B-B14F-4D97-AF65-F5344CB8AC3E}">
        <p14:creationId xmlns:p14="http://schemas.microsoft.com/office/powerpoint/2010/main" val="748525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-6">
            <a:extLst>
              <a:ext uri="{FF2B5EF4-FFF2-40B4-BE49-F238E27FC236}">
                <a16:creationId xmlns:a16="http://schemas.microsoft.com/office/drawing/2014/main" id="{394F4BFF-6CE0-44C7-99D3-42BBC06442E8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478C9"/>
                </a:solidFill>
              </a:defRPr>
            </a:pPr>
            <a:r>
              <a:rPr sz="1050" b="1">
                <a:solidFill>
                  <a:srgbClr val="3478C9"/>
                </a:solidFill>
              </a:rPr>
              <a:t>II. SYSTEM REQUIREMENTS ANALYSIS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D6755341-8EFE-4BC5-B0D7-59BF102D2547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73A66"/>
                </a:solidFill>
              </a:defRPr>
            </a:pPr>
            <a:r>
              <a:rPr sz="2700" b="1">
                <a:solidFill>
                  <a:srgbClr val="173A66"/>
                </a:solidFill>
              </a:rPr>
              <a:t>5. Use Case Descriptions</a:t>
            </a:r>
          </a:p>
        </p:txBody>
      </p:sp>
      <p:sp>
        <p:nvSpPr>
          <p:cNvPr id="3" name="rule-6">
            <a:extLst>
              <a:ext uri="{FF2B5EF4-FFF2-40B4-BE49-F238E27FC236}">
                <a16:creationId xmlns:a16="http://schemas.microsoft.com/office/drawing/2014/main" id="{0A0B1737-E13B-4066-AFEB-E435EC29ED2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781050" cy="38100"/>
          </a:xfrm>
          <a:prstGeom prst="rect">
            <a:avLst/>
          </a:prstGeom>
          <a:solidFill>
            <a:srgbClr val="E3B341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4" name="foot-6">
            <a:extLst>
              <a:ext uri="{FF2B5EF4-FFF2-40B4-BE49-F238E27FC236}">
                <a16:creationId xmlns:a16="http://schemas.microsoft.com/office/drawing/2014/main" id="{997DE37E-015D-43A6-9DCD-37D51199CDEB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GD1305  •  THE MOONSTONE</a:t>
            </a:r>
          </a:p>
        </p:txBody>
      </p:sp>
      <p:sp>
        <p:nvSpPr>
          <p:cNvPr id="5" name="page-6">
            <a:extLst>
              <a:ext uri="{FF2B5EF4-FFF2-40B4-BE49-F238E27FC236}">
                <a16:creationId xmlns:a16="http://schemas.microsoft.com/office/drawing/2014/main" id="{0C76C4A9-C605-463C-9D8D-A83C1155296A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06</a:t>
            </a:r>
          </a:p>
        </p:txBody>
      </p:sp>
      <p:sp>
        <p:nvSpPr>
          <p:cNvPr id="6" name="uc-range-2">
            <a:extLst>
              <a:ext uri="{FF2B5EF4-FFF2-40B4-BE49-F238E27FC236}">
                <a16:creationId xmlns:a16="http://schemas.microsoft.com/office/drawing/2014/main" id="{BEF3061C-100F-4B1C-85EF-06B3100ED1BF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0708A"/>
                </a:solidFill>
              </a:defRPr>
            </a:pPr>
            <a:r>
              <a:rPr sz="1125" b="1">
                <a:solidFill>
                  <a:srgbClr val="60708A"/>
                </a:solidFill>
              </a:rPr>
              <a:t>UC-05 to UC-08  •  Session and enemy lifecycle</a:t>
            </a:r>
          </a:p>
        </p:txBody>
      </p:sp>
      <p:sp>
        <p:nvSpPr>
          <p:cNvPr id="7" name="ucb-5">
            <a:extLst>
              <a:ext uri="{FF2B5EF4-FFF2-40B4-BE49-F238E27FC236}">
                <a16:creationId xmlns:a16="http://schemas.microsoft.com/office/drawing/2014/main" id="{5F39F067-626E-4C25-A41E-E2ACF2B404E8}"/>
              </a:ext>
            </a:extLst>
          </p:cNvPr>
          <p:cNvSpPr>
            <a:spLocks noGrp="1"/>
          </p:cNvSpPr>
          <p:nvPr/>
        </p:nvSpPr>
        <p:spPr>
          <a:xfrm>
            <a:off x="685799" y="1676400"/>
            <a:ext cx="5238749" cy="1123950"/>
          </a:xfrm>
          <a:prstGeom prst="roundRect">
            <a:avLst>
              <a:gd name="adj" fmla="val 10169"/>
            </a:avLst>
          </a:prstGeom>
          <a:solidFill>
            <a:srgbClr val="FFF5D8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8" name="uci-5">
            <a:extLst>
              <a:ext uri="{FF2B5EF4-FFF2-40B4-BE49-F238E27FC236}">
                <a16:creationId xmlns:a16="http://schemas.microsoft.com/office/drawing/2014/main" id="{9255CDCB-45AA-47A8-B6C5-2F93B985683F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751374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478C9"/>
                </a:solidFill>
              </a:defRPr>
            </a:pPr>
            <a:r>
              <a:rPr sz="1050" b="1">
                <a:solidFill>
                  <a:srgbClr val="3478C9"/>
                </a:solidFill>
              </a:rPr>
              <a:t>UC-05</a:t>
            </a:r>
          </a:p>
        </p:txBody>
      </p:sp>
      <p:sp>
        <p:nvSpPr>
          <p:cNvPr id="9" name="uct-5">
            <a:extLst>
              <a:ext uri="{FF2B5EF4-FFF2-40B4-BE49-F238E27FC236}">
                <a16:creationId xmlns:a16="http://schemas.microsoft.com/office/drawing/2014/main" id="{ABBE25E5-D580-42C1-A075-8505DE976D1C}"/>
              </a:ext>
            </a:extLst>
          </p:cNvPr>
          <p:cNvSpPr>
            <a:spLocks noGrp="1"/>
          </p:cNvSpPr>
          <p:nvPr/>
        </p:nvSpPr>
        <p:spPr>
          <a:xfrm>
            <a:off x="857250" y="2066925"/>
            <a:ext cx="4863062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73A66"/>
                </a:solidFill>
              </a:defRPr>
            </a:pPr>
            <a:r>
              <a:rPr sz="1500" b="1">
                <a:solidFill>
                  <a:srgbClr val="173A66"/>
                </a:solidFill>
              </a:rPr>
              <a:t>Pause &amp; Resume</a:t>
            </a:r>
          </a:p>
        </p:txBody>
      </p:sp>
      <p:sp>
        <p:nvSpPr>
          <p:cNvPr id="10" name="uca-5">
            <a:extLst>
              <a:ext uri="{FF2B5EF4-FFF2-40B4-BE49-F238E27FC236}">
                <a16:creationId xmlns:a16="http://schemas.microsoft.com/office/drawing/2014/main" id="{98324621-4481-4919-8781-17BDFB76AA61}"/>
              </a:ext>
            </a:extLst>
          </p:cNvPr>
          <p:cNvSpPr>
            <a:spLocks noGrp="1"/>
          </p:cNvSpPr>
          <p:nvPr/>
        </p:nvSpPr>
        <p:spPr>
          <a:xfrm>
            <a:off x="857250" y="2400300"/>
            <a:ext cx="4863062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21827"/>
                </a:solidFill>
              </a:defRPr>
            </a:pPr>
            <a:r>
              <a:rPr sz="1125" b="0">
                <a:solidFill>
                  <a:srgbClr val="121827"/>
                </a:solidFill>
              </a:rPr>
              <a:t>Player  •  Suspend the simulation, adjust settings, and return to Running.</a:t>
            </a:r>
          </a:p>
        </p:txBody>
      </p:sp>
      <p:sp>
        <p:nvSpPr>
          <p:cNvPr id="11" name="ucb-16">
            <a:extLst>
              <a:ext uri="{FF2B5EF4-FFF2-40B4-BE49-F238E27FC236}">
                <a16:creationId xmlns:a16="http://schemas.microsoft.com/office/drawing/2014/main" id="{BA287DCD-6963-4B83-9A0F-5E4FE28F09D0}"/>
              </a:ext>
            </a:extLst>
          </p:cNvPr>
          <p:cNvSpPr>
            <a:spLocks noGrp="1"/>
          </p:cNvSpPr>
          <p:nvPr/>
        </p:nvSpPr>
        <p:spPr>
          <a:xfrm>
            <a:off x="6267450" y="1666875"/>
            <a:ext cx="5238750" cy="1123950"/>
          </a:xfrm>
          <a:prstGeom prst="roundRect">
            <a:avLst>
              <a:gd name="adj" fmla="val 10169"/>
            </a:avLst>
          </a:prstGeom>
          <a:solidFill>
            <a:srgbClr val="EAF2FB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12" name="uci-16">
            <a:extLst>
              <a:ext uri="{FF2B5EF4-FFF2-40B4-BE49-F238E27FC236}">
                <a16:creationId xmlns:a16="http://schemas.microsoft.com/office/drawing/2014/main" id="{9F858AEB-4770-4C8C-BC5B-E78A5BD90FA8}"/>
              </a:ext>
            </a:extLst>
          </p:cNvPr>
          <p:cNvSpPr>
            <a:spLocks noGrp="1"/>
          </p:cNvSpPr>
          <p:nvPr/>
        </p:nvSpPr>
        <p:spPr>
          <a:xfrm>
            <a:off x="6438900" y="1800225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478C9"/>
                </a:solidFill>
              </a:defRPr>
            </a:pPr>
            <a:r>
              <a:rPr sz="1050" b="1">
                <a:solidFill>
                  <a:srgbClr val="3478C9"/>
                </a:solidFill>
              </a:rPr>
              <a:t>UC-06</a:t>
            </a:r>
          </a:p>
        </p:txBody>
      </p:sp>
      <p:sp>
        <p:nvSpPr>
          <p:cNvPr id="13" name="uct-16">
            <a:extLst>
              <a:ext uri="{FF2B5EF4-FFF2-40B4-BE49-F238E27FC236}">
                <a16:creationId xmlns:a16="http://schemas.microsoft.com/office/drawing/2014/main" id="{FB86C4AE-73EE-4107-9321-AFF66367748A}"/>
              </a:ext>
            </a:extLst>
          </p:cNvPr>
          <p:cNvSpPr>
            <a:spLocks noGrp="1"/>
          </p:cNvSpPr>
          <p:nvPr/>
        </p:nvSpPr>
        <p:spPr>
          <a:xfrm>
            <a:off x="6438900" y="2057400"/>
            <a:ext cx="489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73A66"/>
                </a:solidFill>
              </a:defRPr>
            </a:pPr>
            <a:r>
              <a:rPr sz="1500" b="1">
                <a:solidFill>
                  <a:srgbClr val="173A66"/>
                </a:solidFill>
              </a:rPr>
              <a:t>Generate &amp; Spawn Enemy Wave</a:t>
            </a:r>
          </a:p>
        </p:txBody>
      </p:sp>
      <p:sp>
        <p:nvSpPr>
          <p:cNvPr id="14" name="uca-16">
            <a:extLst>
              <a:ext uri="{FF2B5EF4-FFF2-40B4-BE49-F238E27FC236}">
                <a16:creationId xmlns:a16="http://schemas.microsoft.com/office/drawing/2014/main" id="{303D8F91-2D1A-4C4D-82F6-967947B01F9D}"/>
              </a:ext>
            </a:extLst>
          </p:cNvPr>
          <p:cNvSpPr>
            <a:spLocks noGrp="1"/>
          </p:cNvSpPr>
          <p:nvPr/>
        </p:nvSpPr>
        <p:spPr>
          <a:xfrm>
            <a:off x="6438900" y="2390775"/>
            <a:ext cx="489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21827"/>
                </a:solidFill>
              </a:defRPr>
            </a:pPr>
            <a:r>
              <a:rPr sz="1125" b="0">
                <a:solidFill>
                  <a:srgbClr val="121827"/>
                </a:solidFill>
              </a:rPr>
              <a:t>Game System  •  Schedule entries, resolve EnemyId, and instantiate prefabs.</a:t>
            </a:r>
          </a:p>
        </p:txBody>
      </p:sp>
      <p:sp>
        <p:nvSpPr>
          <p:cNvPr id="15" name="ucb-7">
            <a:extLst>
              <a:ext uri="{FF2B5EF4-FFF2-40B4-BE49-F238E27FC236}">
                <a16:creationId xmlns:a16="http://schemas.microsoft.com/office/drawing/2014/main" id="{26605D4B-92D7-43EB-AACC-934DE9F5C74D}"/>
              </a:ext>
            </a:extLst>
          </p:cNvPr>
          <p:cNvSpPr>
            <a:spLocks noGrp="1"/>
          </p:cNvSpPr>
          <p:nvPr/>
        </p:nvSpPr>
        <p:spPr>
          <a:xfrm>
            <a:off x="685800" y="3095625"/>
            <a:ext cx="5238750" cy="1123950"/>
          </a:xfrm>
          <a:prstGeom prst="roundRect">
            <a:avLst>
              <a:gd name="adj" fmla="val 10169"/>
            </a:avLst>
          </a:prstGeom>
          <a:solidFill>
            <a:srgbClr val="FFF5D8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16" name="uci-7">
            <a:extLst>
              <a:ext uri="{FF2B5EF4-FFF2-40B4-BE49-F238E27FC236}">
                <a16:creationId xmlns:a16="http://schemas.microsoft.com/office/drawing/2014/main" id="{5739D3EF-4AD3-4569-B869-BC9CE67E8D37}"/>
              </a:ext>
            </a:extLst>
          </p:cNvPr>
          <p:cNvSpPr>
            <a:spLocks noGrp="1"/>
          </p:cNvSpPr>
          <p:nvPr/>
        </p:nvSpPr>
        <p:spPr>
          <a:xfrm>
            <a:off x="857250" y="3228975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478C9"/>
                </a:solidFill>
              </a:defRPr>
            </a:pPr>
            <a:r>
              <a:rPr sz="1050" b="1">
                <a:solidFill>
                  <a:srgbClr val="3478C9"/>
                </a:solidFill>
              </a:rPr>
              <a:t>UC-07</a:t>
            </a:r>
          </a:p>
        </p:txBody>
      </p:sp>
      <p:sp>
        <p:nvSpPr>
          <p:cNvPr id="17" name="uct-7">
            <a:extLst>
              <a:ext uri="{FF2B5EF4-FFF2-40B4-BE49-F238E27FC236}">
                <a16:creationId xmlns:a16="http://schemas.microsoft.com/office/drawing/2014/main" id="{BB4FAF18-CB28-4190-90E9-0DF143BAA658}"/>
              </a:ext>
            </a:extLst>
          </p:cNvPr>
          <p:cNvSpPr>
            <a:spLocks noGrp="1"/>
          </p:cNvSpPr>
          <p:nvPr/>
        </p:nvSpPr>
        <p:spPr>
          <a:xfrm>
            <a:off x="857250" y="3486150"/>
            <a:ext cx="489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73A66"/>
                </a:solidFill>
              </a:defRPr>
            </a:pPr>
            <a:r>
              <a:rPr sz="1500" b="1">
                <a:solidFill>
                  <a:srgbClr val="173A66"/>
                </a:solidFill>
              </a:rPr>
              <a:t>Auto Attack &amp; Collect EXP, Gold</a:t>
            </a:r>
          </a:p>
        </p:txBody>
      </p:sp>
      <p:sp>
        <p:nvSpPr>
          <p:cNvPr id="18" name="uca-7">
            <a:extLst>
              <a:ext uri="{FF2B5EF4-FFF2-40B4-BE49-F238E27FC236}">
                <a16:creationId xmlns:a16="http://schemas.microsoft.com/office/drawing/2014/main" id="{0D640F13-1D11-48A9-B89A-2EA378F23E00}"/>
              </a:ext>
            </a:extLst>
          </p:cNvPr>
          <p:cNvSpPr>
            <a:spLocks noGrp="1"/>
          </p:cNvSpPr>
          <p:nvPr/>
        </p:nvSpPr>
        <p:spPr>
          <a:xfrm>
            <a:off x="857250" y="3819525"/>
            <a:ext cx="489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21827"/>
                </a:solidFill>
              </a:defRPr>
            </a:pPr>
            <a:r>
              <a:rPr sz="1125" b="0">
                <a:solidFill>
                  <a:srgbClr val="121827"/>
                </a:solidFill>
              </a:rPr>
              <a:t>Game System  •  Acquire targets, fire projectiles, and generate rewards.</a:t>
            </a:r>
          </a:p>
        </p:txBody>
      </p:sp>
      <p:sp>
        <p:nvSpPr>
          <p:cNvPr id="19" name="ucb-8">
            <a:extLst>
              <a:ext uri="{FF2B5EF4-FFF2-40B4-BE49-F238E27FC236}">
                <a16:creationId xmlns:a16="http://schemas.microsoft.com/office/drawing/2014/main" id="{FFC13321-A9DC-4558-875B-E264D6DE03E0}"/>
              </a:ext>
            </a:extLst>
          </p:cNvPr>
          <p:cNvSpPr>
            <a:spLocks noGrp="1"/>
          </p:cNvSpPr>
          <p:nvPr/>
        </p:nvSpPr>
        <p:spPr>
          <a:xfrm>
            <a:off x="6267450" y="3095625"/>
            <a:ext cx="5238750" cy="1123950"/>
          </a:xfrm>
          <a:prstGeom prst="roundRect">
            <a:avLst>
              <a:gd name="adj" fmla="val 10169"/>
            </a:avLst>
          </a:prstGeom>
          <a:solidFill>
            <a:srgbClr val="EAF2FB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20" name="uci-8">
            <a:extLst>
              <a:ext uri="{FF2B5EF4-FFF2-40B4-BE49-F238E27FC236}">
                <a16:creationId xmlns:a16="http://schemas.microsoft.com/office/drawing/2014/main" id="{575EEDAC-44BF-4801-8D9D-0ADF22585915}"/>
              </a:ext>
            </a:extLst>
          </p:cNvPr>
          <p:cNvSpPr>
            <a:spLocks noGrp="1"/>
          </p:cNvSpPr>
          <p:nvPr/>
        </p:nvSpPr>
        <p:spPr>
          <a:xfrm>
            <a:off x="6438900" y="3228975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478C9"/>
                </a:solidFill>
              </a:defRPr>
            </a:pPr>
            <a:r>
              <a:rPr sz="1050" b="1">
                <a:solidFill>
                  <a:srgbClr val="3478C9"/>
                </a:solidFill>
              </a:rPr>
              <a:t>UC-08</a:t>
            </a:r>
          </a:p>
        </p:txBody>
      </p:sp>
      <p:sp>
        <p:nvSpPr>
          <p:cNvPr id="21" name="uct-8">
            <a:extLst>
              <a:ext uri="{FF2B5EF4-FFF2-40B4-BE49-F238E27FC236}">
                <a16:creationId xmlns:a16="http://schemas.microsoft.com/office/drawing/2014/main" id="{F0AEFB03-2DF9-49CA-8D82-FE63ECDE9394}"/>
              </a:ext>
            </a:extLst>
          </p:cNvPr>
          <p:cNvSpPr>
            <a:spLocks noGrp="1"/>
          </p:cNvSpPr>
          <p:nvPr/>
        </p:nvSpPr>
        <p:spPr>
          <a:xfrm>
            <a:off x="6438900" y="3486150"/>
            <a:ext cx="489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73A66"/>
                </a:solidFill>
              </a:defRPr>
            </a:pPr>
            <a:r>
              <a:rPr sz="1500" b="1">
                <a:solidFill>
                  <a:srgbClr val="173A66"/>
                </a:solidFill>
              </a:rPr>
              <a:t>Process Enemy Death &amp; Reward</a:t>
            </a:r>
          </a:p>
        </p:txBody>
      </p:sp>
      <p:sp>
        <p:nvSpPr>
          <p:cNvPr id="22" name="uca-8">
            <a:extLst>
              <a:ext uri="{FF2B5EF4-FFF2-40B4-BE49-F238E27FC236}">
                <a16:creationId xmlns:a16="http://schemas.microsoft.com/office/drawing/2014/main" id="{16E88D65-4DDA-41A3-970E-0D14AFFDFB4F}"/>
              </a:ext>
            </a:extLst>
          </p:cNvPr>
          <p:cNvSpPr>
            <a:spLocks noGrp="1"/>
          </p:cNvSpPr>
          <p:nvPr/>
        </p:nvSpPr>
        <p:spPr>
          <a:xfrm>
            <a:off x="6438900" y="3819525"/>
            <a:ext cx="489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21827"/>
                </a:solidFill>
              </a:defRPr>
            </a:pPr>
            <a:r>
              <a:rPr sz="1125" b="0">
                <a:solidFill>
                  <a:srgbClr val="121827"/>
                </a:solidFill>
              </a:rPr>
              <a:t>Game System  •  Remove defeated enemies and continue wave progression.</a:t>
            </a:r>
          </a:p>
        </p:txBody>
      </p:sp>
      <p:sp>
        <p:nvSpPr>
          <p:cNvPr id="23" name="uc-note2">
            <a:extLst>
              <a:ext uri="{FF2B5EF4-FFF2-40B4-BE49-F238E27FC236}">
                <a16:creationId xmlns:a16="http://schemas.microsoft.com/office/drawing/2014/main" id="{F7AFFDD4-F0D6-499E-88BE-D0786043C6E4}"/>
              </a:ext>
            </a:extLst>
          </p:cNvPr>
          <p:cNvSpPr>
            <a:spLocks noGrp="1"/>
          </p:cNvSpPr>
          <p:nvPr/>
        </p:nvSpPr>
        <p:spPr>
          <a:xfrm>
            <a:off x="1714500" y="4953000"/>
            <a:ext cx="876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21827"/>
                </a:solidFill>
              </a:defRPr>
            </a:pPr>
            <a:r>
              <a:rPr sz="1575" b="1">
                <a:solidFill>
                  <a:srgbClr val="121827"/>
                </a:solidFill>
              </a:rPr>
              <a:t>Invalid spawn or reward data must never leave the current wave permanently blocked.</a:t>
            </a:r>
          </a:p>
        </p:txBody>
      </p:sp>
    </p:spTree>
    <p:extLst>
      <p:ext uri="{BB962C8B-B14F-4D97-AF65-F5344CB8AC3E}">
        <p14:creationId xmlns:p14="http://schemas.microsoft.com/office/powerpoint/2010/main" val="812623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pter-7">
            <a:extLst>
              <a:ext uri="{FF2B5EF4-FFF2-40B4-BE49-F238E27FC236}">
                <a16:creationId xmlns:a16="http://schemas.microsoft.com/office/drawing/2014/main" id="{321697C8-463E-4E0E-87A3-206BD9D57503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478C9"/>
                </a:solidFill>
              </a:defRPr>
            </a:pPr>
            <a:r>
              <a:rPr sz="1050" b="1">
                <a:solidFill>
                  <a:srgbClr val="3478C9"/>
                </a:solidFill>
              </a:rPr>
              <a:t>II. SYSTEM REQUIREMENTS ANALYSIS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DEBDA939-505D-4948-A262-EC7FE7E2446E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73A66"/>
                </a:solidFill>
              </a:defRPr>
            </a:pPr>
            <a:r>
              <a:rPr sz="2700" b="1">
                <a:solidFill>
                  <a:srgbClr val="173A66"/>
                </a:solidFill>
              </a:rPr>
              <a:t>6. Activity Diagram</a:t>
            </a:r>
          </a:p>
        </p:txBody>
      </p:sp>
      <p:sp>
        <p:nvSpPr>
          <p:cNvPr id="3" name="rule-7">
            <a:extLst>
              <a:ext uri="{FF2B5EF4-FFF2-40B4-BE49-F238E27FC236}">
                <a16:creationId xmlns:a16="http://schemas.microsoft.com/office/drawing/2014/main" id="{0DC07097-D60E-4200-B1A6-79FB9D3E1FD0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781050" cy="38100"/>
          </a:xfrm>
          <a:prstGeom prst="rect">
            <a:avLst/>
          </a:prstGeom>
          <a:solidFill>
            <a:srgbClr val="E3B341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4" name="foot-7">
            <a:extLst>
              <a:ext uri="{FF2B5EF4-FFF2-40B4-BE49-F238E27FC236}">
                <a16:creationId xmlns:a16="http://schemas.microsoft.com/office/drawing/2014/main" id="{BA99ECE4-1124-4F5D-9C36-5722A33A9E4B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GD1305  •  THE MOONSTONE</a:t>
            </a:r>
          </a:p>
        </p:txBody>
      </p:sp>
      <p:sp>
        <p:nvSpPr>
          <p:cNvPr id="5" name="page-7">
            <a:extLst>
              <a:ext uri="{FF2B5EF4-FFF2-40B4-BE49-F238E27FC236}">
                <a16:creationId xmlns:a16="http://schemas.microsoft.com/office/drawing/2014/main" id="{3445088A-61CE-47F9-AAA5-F81D129F12DB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07</a:t>
            </a:r>
          </a:p>
        </p:txBody>
      </p:sp>
      <p:sp>
        <p:nvSpPr>
          <p:cNvPr id="6" name="af">
            <a:extLst>
              <a:ext uri="{FF2B5EF4-FFF2-40B4-BE49-F238E27FC236}">
                <a16:creationId xmlns:a16="http://schemas.microsoft.com/office/drawing/2014/main" id="{D86403F0-EEF2-431B-97ED-AF633D1DC776}"/>
              </a:ext>
            </a:extLst>
          </p:cNvPr>
          <p:cNvSpPr>
            <a:spLocks noGrp="1"/>
          </p:cNvSpPr>
          <p:nvPr/>
        </p:nvSpPr>
        <p:spPr>
          <a:xfrm>
            <a:off x="3286125" y="1476375"/>
            <a:ext cx="5619750" cy="4762500"/>
          </a:xfrm>
          <a:prstGeom prst="roundRect">
            <a:avLst>
              <a:gd name="adj" fmla="val 2400"/>
            </a:avLst>
          </a:prstGeom>
          <a:solidFill>
            <a:srgbClr val="F6F8FB"/>
          </a:solidFill>
          <a:ln w="9525">
            <a:solidFill>
              <a:srgbClr val="D7DFEA"/>
            </a:solidFill>
            <a:prstDash val="solid"/>
          </a:ln>
        </p:spPr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54927" y="1619250"/>
            <a:ext cx="1682146" cy="4476750"/>
          </a:xfrm>
          <a:prstGeom prst="rect">
            <a:avLst/>
          </a:prstGeom>
        </p:spPr>
      </p:pic>
      <p:sp>
        <p:nvSpPr>
          <p:cNvPr id="8" name="activity-side">
            <a:extLst>
              <a:ext uri="{FF2B5EF4-FFF2-40B4-BE49-F238E27FC236}">
                <a16:creationId xmlns:a16="http://schemas.microsoft.com/office/drawing/2014/main" id="{2C8A7B04-44A3-4D0D-83BD-9D68AFE0CDA6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2190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21827"/>
                </a:solidFill>
              </a:defRPr>
            </a:pPr>
            <a:r>
              <a:rPr sz="1425" b="1">
                <a:solidFill>
                  <a:srgbClr val="121827"/>
                </a:solidFill>
              </a:rPr>
              <a:t>The diagram follows the complete path from Main Menu to Stage Win or Game Over, including the repeated wave branch.</a:t>
            </a:r>
          </a:p>
        </p:txBody>
      </p:sp>
    </p:spTree>
    <p:extLst>
      <p:ext uri="{BB962C8B-B14F-4D97-AF65-F5344CB8AC3E}">
        <p14:creationId xmlns:p14="http://schemas.microsoft.com/office/powerpoint/2010/main" val="822762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-8">
            <a:extLst>
              <a:ext uri="{FF2B5EF4-FFF2-40B4-BE49-F238E27FC236}">
                <a16:creationId xmlns:a16="http://schemas.microsoft.com/office/drawing/2014/main" id="{5F305FCC-F06B-4096-8F58-9FAEBC635093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478C9"/>
                </a:solidFill>
              </a:defRPr>
            </a:pPr>
            <a:r>
              <a:rPr sz="1050" b="1">
                <a:solidFill>
                  <a:srgbClr val="3478C9"/>
                </a:solidFill>
              </a:rPr>
              <a:t>III. DETAILED DESIGN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99B9F86F-1C00-43CD-805C-EFAA02B503FF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73A66"/>
                </a:solidFill>
              </a:defRPr>
            </a:pPr>
            <a:r>
              <a:rPr sz="2700" b="1">
                <a:solidFill>
                  <a:srgbClr val="173A66"/>
                </a:solidFill>
              </a:rPr>
              <a:t>1. UI Design</a:t>
            </a:r>
          </a:p>
        </p:txBody>
      </p:sp>
      <p:sp>
        <p:nvSpPr>
          <p:cNvPr id="3" name="rule-8">
            <a:extLst>
              <a:ext uri="{FF2B5EF4-FFF2-40B4-BE49-F238E27FC236}">
                <a16:creationId xmlns:a16="http://schemas.microsoft.com/office/drawing/2014/main" id="{AE54F14A-7E14-41C1-B2AE-BBA12BB171D4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781050" cy="38100"/>
          </a:xfrm>
          <a:prstGeom prst="rect">
            <a:avLst/>
          </a:prstGeom>
          <a:solidFill>
            <a:srgbClr val="E3B341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4" name="foot-8">
            <a:extLst>
              <a:ext uri="{FF2B5EF4-FFF2-40B4-BE49-F238E27FC236}">
                <a16:creationId xmlns:a16="http://schemas.microsoft.com/office/drawing/2014/main" id="{EB62CC4C-CEDB-4474-9BE0-DE0D3F9D76EF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GD1305  •  THE MOONSTONE</a:t>
            </a:r>
          </a:p>
        </p:txBody>
      </p:sp>
      <p:sp>
        <p:nvSpPr>
          <p:cNvPr id="5" name="page-8">
            <a:extLst>
              <a:ext uri="{FF2B5EF4-FFF2-40B4-BE49-F238E27FC236}">
                <a16:creationId xmlns:a16="http://schemas.microsoft.com/office/drawing/2014/main" id="{7D46914E-3039-448E-BBC4-C6C6BCA26B98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08</a:t>
            </a:r>
          </a:p>
        </p:txBody>
      </p:sp>
      <p:sp>
        <p:nvSpPr>
          <p:cNvPr id="6" name="uif-0">
            <a:extLst>
              <a:ext uri="{FF2B5EF4-FFF2-40B4-BE49-F238E27FC236}">
                <a16:creationId xmlns:a16="http://schemas.microsoft.com/office/drawing/2014/main" id="{F4A66184-E178-48F7-B2C8-3EBBB7C58D59}"/>
              </a:ext>
            </a:extLst>
          </p:cNvPr>
          <p:cNvSpPr>
            <a:spLocks noGrp="1"/>
          </p:cNvSpPr>
          <p:nvPr/>
        </p:nvSpPr>
        <p:spPr>
          <a:xfrm>
            <a:off x="762000" y="1666875"/>
            <a:ext cx="2190750" cy="3857625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7" name="uif-1">
            <a:extLst>
              <a:ext uri="{FF2B5EF4-FFF2-40B4-BE49-F238E27FC236}">
                <a16:creationId xmlns:a16="http://schemas.microsoft.com/office/drawing/2014/main" id="{EA0DDE7A-1C13-4E78-971D-EA357521D3E0}"/>
              </a:ext>
            </a:extLst>
          </p:cNvPr>
          <p:cNvSpPr>
            <a:spLocks noGrp="1"/>
          </p:cNvSpPr>
          <p:nvPr/>
        </p:nvSpPr>
        <p:spPr>
          <a:xfrm>
            <a:off x="3333750" y="1666875"/>
            <a:ext cx="2190750" cy="3857625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8" name="uif-2">
            <a:extLst>
              <a:ext uri="{FF2B5EF4-FFF2-40B4-BE49-F238E27FC236}">
                <a16:creationId xmlns:a16="http://schemas.microsoft.com/office/drawing/2014/main" id="{7ADCB89E-DC79-42B1-8B3A-5B58D806F5EE}"/>
              </a:ext>
            </a:extLst>
          </p:cNvPr>
          <p:cNvSpPr>
            <a:spLocks noGrp="1"/>
          </p:cNvSpPr>
          <p:nvPr/>
        </p:nvSpPr>
        <p:spPr>
          <a:xfrm>
            <a:off x="5905500" y="1666875"/>
            <a:ext cx="247650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9" name="uif-3">
            <a:extLst>
              <a:ext uri="{FF2B5EF4-FFF2-40B4-BE49-F238E27FC236}">
                <a16:creationId xmlns:a16="http://schemas.microsoft.com/office/drawing/2014/main" id="{F649F390-19E8-45E1-AB44-C8503B9797E1}"/>
              </a:ext>
            </a:extLst>
          </p:cNvPr>
          <p:cNvSpPr>
            <a:spLocks noGrp="1"/>
          </p:cNvSpPr>
          <p:nvPr/>
        </p:nvSpPr>
        <p:spPr>
          <a:xfrm>
            <a:off x="8763000" y="1666875"/>
            <a:ext cx="247650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8222" y="1828800"/>
            <a:ext cx="1618307" cy="314325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524250" y="1921302"/>
            <a:ext cx="1809750" cy="295824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49206" y="1809750"/>
            <a:ext cx="1589088" cy="13335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206706" y="1809750"/>
            <a:ext cx="1589088" cy="1333500"/>
          </a:xfrm>
          <a:prstGeom prst="rect">
            <a:avLst/>
          </a:prstGeom>
        </p:spPr>
      </p:pic>
      <p:sp>
        <p:nvSpPr>
          <p:cNvPr id="14" name="l1">
            <a:extLst>
              <a:ext uri="{FF2B5EF4-FFF2-40B4-BE49-F238E27FC236}">
                <a16:creationId xmlns:a16="http://schemas.microsoft.com/office/drawing/2014/main" id="{CECBBAB2-8B0F-41E7-B050-D1572EF6F08A}"/>
              </a:ext>
            </a:extLst>
          </p:cNvPr>
          <p:cNvSpPr>
            <a:spLocks noGrp="1"/>
          </p:cNvSpPr>
          <p:nvPr/>
        </p:nvSpPr>
        <p:spPr>
          <a:xfrm>
            <a:off x="857250" y="509587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3478C9"/>
                </a:solidFill>
              </a:defRPr>
            </a:pPr>
            <a:r>
              <a:rPr sz="1200" b="1">
                <a:solidFill>
                  <a:srgbClr val="3478C9"/>
                </a:solidFill>
              </a:rPr>
              <a:t>Main Menu Canvas</a:t>
            </a:r>
          </a:p>
        </p:txBody>
      </p:sp>
      <p:sp>
        <p:nvSpPr>
          <p:cNvPr id="15" name="l2">
            <a:extLst>
              <a:ext uri="{FF2B5EF4-FFF2-40B4-BE49-F238E27FC236}">
                <a16:creationId xmlns:a16="http://schemas.microsoft.com/office/drawing/2014/main" id="{8087E0AA-590B-4827-A780-D7D63A2D17D9}"/>
              </a:ext>
            </a:extLst>
          </p:cNvPr>
          <p:cNvSpPr>
            <a:spLocks noGrp="1"/>
          </p:cNvSpPr>
          <p:nvPr/>
        </p:nvSpPr>
        <p:spPr>
          <a:xfrm>
            <a:off x="3429000" y="509587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3478C9"/>
                </a:solidFill>
              </a:defRPr>
            </a:pPr>
            <a:r>
              <a:rPr sz="1200" b="1">
                <a:solidFill>
                  <a:srgbClr val="3478C9"/>
                </a:solidFill>
              </a:rPr>
              <a:t>Gameplay HUD</a:t>
            </a:r>
          </a:p>
        </p:txBody>
      </p:sp>
      <p:sp>
        <p:nvSpPr>
          <p:cNvPr id="16" name="l3">
            <a:extLst>
              <a:ext uri="{FF2B5EF4-FFF2-40B4-BE49-F238E27FC236}">
                <a16:creationId xmlns:a16="http://schemas.microsoft.com/office/drawing/2014/main" id="{6CB29EB4-06E3-4481-8670-3A5CE8757728}"/>
              </a:ext>
            </a:extLst>
          </p:cNvPr>
          <p:cNvSpPr>
            <a:spLocks noGrp="1"/>
          </p:cNvSpPr>
          <p:nvPr/>
        </p:nvSpPr>
        <p:spPr>
          <a:xfrm>
            <a:off x="6096000" y="319087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3478C9"/>
                </a:solidFill>
              </a:defRPr>
            </a:pPr>
            <a:r>
              <a:rPr sz="1200" b="1">
                <a:solidFill>
                  <a:srgbClr val="3478C9"/>
                </a:solidFill>
              </a:rPr>
              <a:t>Settings Menu</a:t>
            </a:r>
          </a:p>
        </p:txBody>
      </p:sp>
      <p:sp>
        <p:nvSpPr>
          <p:cNvPr id="17" name="l4">
            <a:extLst>
              <a:ext uri="{FF2B5EF4-FFF2-40B4-BE49-F238E27FC236}">
                <a16:creationId xmlns:a16="http://schemas.microsoft.com/office/drawing/2014/main" id="{7861637F-0EA8-43B7-80AF-F088D447CF6A}"/>
              </a:ext>
            </a:extLst>
          </p:cNvPr>
          <p:cNvSpPr>
            <a:spLocks noGrp="1"/>
          </p:cNvSpPr>
          <p:nvPr/>
        </p:nvSpPr>
        <p:spPr>
          <a:xfrm>
            <a:off x="8953500" y="319087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3478C9"/>
                </a:solidFill>
              </a:defRPr>
            </a:pPr>
            <a:r>
              <a:rPr sz="1200" b="1">
                <a:solidFill>
                  <a:srgbClr val="3478C9"/>
                </a:solidFill>
              </a:rPr>
              <a:t>Level Up Menu</a:t>
            </a:r>
          </a:p>
        </p:txBody>
      </p:sp>
      <p:sp>
        <p:nvSpPr>
          <p:cNvPr id="18" name="ui-copy">
            <a:extLst>
              <a:ext uri="{FF2B5EF4-FFF2-40B4-BE49-F238E27FC236}">
                <a16:creationId xmlns:a16="http://schemas.microsoft.com/office/drawing/2014/main" id="{03A6ED1A-3349-41F9-BFB3-E16683F08D91}"/>
              </a:ext>
            </a:extLst>
          </p:cNvPr>
          <p:cNvSpPr>
            <a:spLocks noGrp="1"/>
          </p:cNvSpPr>
          <p:nvPr/>
        </p:nvSpPr>
        <p:spPr>
          <a:xfrm>
            <a:off x="5905500" y="3952875"/>
            <a:ext cx="5334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21827"/>
                </a:solidFill>
              </a:defRPr>
            </a:pPr>
            <a:r>
              <a:rPr sz="1500" b="1">
                <a:solidFill>
                  <a:srgbClr val="121827"/>
                </a:solidFill>
              </a:rPr>
              <a:t>MainMenuManager and HUDManager bind data and events; the Canvas prefabs own layout and remain editable in the Inspector.</a:t>
            </a:r>
          </a:p>
        </p:txBody>
      </p:sp>
    </p:spTree>
    <p:extLst>
      <p:ext uri="{BB962C8B-B14F-4D97-AF65-F5344CB8AC3E}">
        <p14:creationId xmlns:p14="http://schemas.microsoft.com/office/powerpoint/2010/main" val="1487699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pter-9">
            <a:extLst>
              <a:ext uri="{FF2B5EF4-FFF2-40B4-BE49-F238E27FC236}">
                <a16:creationId xmlns:a16="http://schemas.microsoft.com/office/drawing/2014/main" id="{8FFB71D8-A4F6-404D-B7F7-5D96A92C31CE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478C9"/>
                </a:solidFill>
              </a:defRPr>
            </a:pPr>
            <a:r>
              <a:rPr sz="1050" b="1">
                <a:solidFill>
                  <a:srgbClr val="3478C9"/>
                </a:solidFill>
              </a:rPr>
              <a:t>III. DETAILED DESIGN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5814FD90-5352-4DE7-8A58-99FC5443C989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73A66"/>
                </a:solidFill>
              </a:defRPr>
            </a:pPr>
            <a:r>
              <a:rPr sz="2700" b="1">
                <a:solidFill>
                  <a:srgbClr val="173A66"/>
                </a:solidFill>
              </a:rPr>
              <a:t>2. Hybrid Architecture Diagram</a:t>
            </a:r>
          </a:p>
        </p:txBody>
      </p:sp>
      <p:sp>
        <p:nvSpPr>
          <p:cNvPr id="3" name="rule-9">
            <a:extLst>
              <a:ext uri="{FF2B5EF4-FFF2-40B4-BE49-F238E27FC236}">
                <a16:creationId xmlns:a16="http://schemas.microsoft.com/office/drawing/2014/main" id="{1936112F-845D-46E4-90AE-64E994AF1610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781050" cy="38100"/>
          </a:xfrm>
          <a:prstGeom prst="rect">
            <a:avLst/>
          </a:prstGeom>
          <a:solidFill>
            <a:srgbClr val="E3B341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4" name="foot-9">
            <a:extLst>
              <a:ext uri="{FF2B5EF4-FFF2-40B4-BE49-F238E27FC236}">
                <a16:creationId xmlns:a16="http://schemas.microsoft.com/office/drawing/2014/main" id="{6973AF27-75BF-4245-A853-A5889FE3FD45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GD1305  •  THE MOONSTONE</a:t>
            </a:r>
          </a:p>
        </p:txBody>
      </p:sp>
      <p:sp>
        <p:nvSpPr>
          <p:cNvPr id="5" name="page-9">
            <a:extLst>
              <a:ext uri="{FF2B5EF4-FFF2-40B4-BE49-F238E27FC236}">
                <a16:creationId xmlns:a16="http://schemas.microsoft.com/office/drawing/2014/main" id="{CF1941F8-B2FC-4E98-9A10-F6065E763217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09</a:t>
            </a:r>
          </a:p>
        </p:txBody>
      </p:sp>
      <p:sp>
        <p:nvSpPr>
          <p:cNvPr id="6" name="hf">
            <a:extLst>
              <a:ext uri="{FF2B5EF4-FFF2-40B4-BE49-F238E27FC236}">
                <a16:creationId xmlns:a16="http://schemas.microsoft.com/office/drawing/2014/main" id="{BA90AE8A-F4A5-4F73-ABBA-49BE22371502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4333875"/>
          </a:xfrm>
          <a:prstGeom prst="roundRect">
            <a:avLst>
              <a:gd name="adj" fmla="val 2637"/>
            </a:avLst>
          </a:prstGeom>
          <a:solidFill>
            <a:srgbClr val="F6F8FB"/>
          </a:solidFill>
          <a:ln w="9525">
            <a:solidFill>
              <a:srgbClr val="D7DFEA"/>
            </a:solidFill>
            <a:prstDash val="solid"/>
          </a:ln>
        </p:spPr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5465" y="1762125"/>
            <a:ext cx="9401069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504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pter-10">
            <a:extLst>
              <a:ext uri="{FF2B5EF4-FFF2-40B4-BE49-F238E27FC236}">
                <a16:creationId xmlns:a16="http://schemas.microsoft.com/office/drawing/2014/main" id="{0BAD9CC5-46F6-4BF1-98A6-F7455F05F4E9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478C9"/>
                </a:solidFill>
              </a:defRPr>
            </a:pPr>
            <a:r>
              <a:rPr sz="1050" b="1">
                <a:solidFill>
                  <a:srgbClr val="3478C9"/>
                </a:solidFill>
              </a:rPr>
              <a:t>III. DETAILED DESIGN</a:t>
            </a:r>
          </a:p>
        </p:txBody>
      </p:sp>
      <p:sp>
        <p:nvSpPr>
          <p:cNvPr id="2" name="title-10">
            <a:extLst>
              <a:ext uri="{FF2B5EF4-FFF2-40B4-BE49-F238E27FC236}">
                <a16:creationId xmlns:a16="http://schemas.microsoft.com/office/drawing/2014/main" id="{C6791108-2A76-4F81-A1A3-320BDCBE6DFC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73A66"/>
                </a:solidFill>
              </a:defRPr>
            </a:pPr>
            <a:r>
              <a:rPr sz="2700" b="1">
                <a:solidFill>
                  <a:srgbClr val="173A66"/>
                </a:solidFill>
              </a:rPr>
              <a:t>3. Class / Component Diagram</a:t>
            </a:r>
          </a:p>
        </p:txBody>
      </p:sp>
      <p:sp>
        <p:nvSpPr>
          <p:cNvPr id="3" name="rule-10">
            <a:extLst>
              <a:ext uri="{FF2B5EF4-FFF2-40B4-BE49-F238E27FC236}">
                <a16:creationId xmlns:a16="http://schemas.microsoft.com/office/drawing/2014/main" id="{3FDA6571-7C87-4273-98FE-40D4478F571E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781050" cy="38100"/>
          </a:xfrm>
          <a:prstGeom prst="rect">
            <a:avLst/>
          </a:prstGeom>
          <a:solidFill>
            <a:srgbClr val="E3B341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4" name="foot-10">
            <a:extLst>
              <a:ext uri="{FF2B5EF4-FFF2-40B4-BE49-F238E27FC236}">
                <a16:creationId xmlns:a16="http://schemas.microsoft.com/office/drawing/2014/main" id="{70296028-08A2-4B17-B122-FD2BEBAAFF24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GD1305  •  THE MOONSTONE</a:t>
            </a:r>
          </a:p>
        </p:txBody>
      </p:sp>
      <p:sp>
        <p:nvSpPr>
          <p:cNvPr id="5" name="page-10">
            <a:extLst>
              <a:ext uri="{FF2B5EF4-FFF2-40B4-BE49-F238E27FC236}">
                <a16:creationId xmlns:a16="http://schemas.microsoft.com/office/drawing/2014/main" id="{5DC4424F-1B4D-4B21-B1B9-623B6722D4E1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10</a:t>
            </a:r>
          </a:p>
        </p:txBody>
      </p:sp>
      <p:sp>
        <p:nvSpPr>
          <p:cNvPr id="6" name="cf">
            <a:extLst>
              <a:ext uri="{FF2B5EF4-FFF2-40B4-BE49-F238E27FC236}">
                <a16:creationId xmlns:a16="http://schemas.microsoft.com/office/drawing/2014/main" id="{256AB0B1-8D44-4594-A8C7-1DD84F9825E1}"/>
              </a:ext>
            </a:extLst>
          </p:cNvPr>
          <p:cNvSpPr>
            <a:spLocks noGrp="1"/>
          </p:cNvSpPr>
          <p:nvPr/>
        </p:nvSpPr>
        <p:spPr>
          <a:xfrm>
            <a:off x="1333500" y="1476375"/>
            <a:ext cx="9525000" cy="47625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0182" y="1666875"/>
            <a:ext cx="4571636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63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pter-11">
            <a:extLst>
              <a:ext uri="{FF2B5EF4-FFF2-40B4-BE49-F238E27FC236}">
                <a16:creationId xmlns:a16="http://schemas.microsoft.com/office/drawing/2014/main" id="{25A11FAB-2423-47DA-8B70-2A9962524654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478C9"/>
                </a:solidFill>
              </a:defRPr>
            </a:pPr>
            <a:r>
              <a:rPr sz="1050" b="1">
                <a:solidFill>
                  <a:srgbClr val="3478C9"/>
                </a:solidFill>
              </a:rPr>
              <a:t>III. DETAILED DESIGN</a:t>
            </a:r>
          </a:p>
        </p:txBody>
      </p:sp>
      <p:sp>
        <p:nvSpPr>
          <p:cNvPr id="2" name="title-11">
            <a:extLst>
              <a:ext uri="{FF2B5EF4-FFF2-40B4-BE49-F238E27FC236}">
                <a16:creationId xmlns:a16="http://schemas.microsoft.com/office/drawing/2014/main" id="{1FB57B1F-2C06-4793-A023-8526A4F615CB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73A66"/>
                </a:solidFill>
              </a:defRPr>
            </a:pPr>
            <a:r>
              <a:rPr sz="2700" b="1">
                <a:solidFill>
                  <a:srgbClr val="173A66"/>
                </a:solidFill>
              </a:rPr>
              <a:t>4. Sequence Diagram</a:t>
            </a:r>
          </a:p>
        </p:txBody>
      </p:sp>
      <p:sp>
        <p:nvSpPr>
          <p:cNvPr id="3" name="rule-11">
            <a:extLst>
              <a:ext uri="{FF2B5EF4-FFF2-40B4-BE49-F238E27FC236}">
                <a16:creationId xmlns:a16="http://schemas.microsoft.com/office/drawing/2014/main" id="{20362065-E5B5-477C-9795-7FB8E6FA5C57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781050" cy="38100"/>
          </a:xfrm>
          <a:prstGeom prst="rect">
            <a:avLst/>
          </a:prstGeom>
          <a:solidFill>
            <a:srgbClr val="E3B341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4" name="foot-11">
            <a:extLst>
              <a:ext uri="{FF2B5EF4-FFF2-40B4-BE49-F238E27FC236}">
                <a16:creationId xmlns:a16="http://schemas.microsoft.com/office/drawing/2014/main" id="{ABC01A3D-E00B-4136-99E6-DF9D4641368A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GD1305  •  THE MOONSTONE</a:t>
            </a:r>
          </a:p>
        </p:txBody>
      </p:sp>
      <p:sp>
        <p:nvSpPr>
          <p:cNvPr id="5" name="page-11">
            <a:extLst>
              <a:ext uri="{FF2B5EF4-FFF2-40B4-BE49-F238E27FC236}">
                <a16:creationId xmlns:a16="http://schemas.microsoft.com/office/drawing/2014/main" id="{AF790612-9AA7-4894-8EA2-CABAC24BFADC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11</a:t>
            </a:r>
          </a:p>
        </p:txBody>
      </p:sp>
      <p:sp>
        <p:nvSpPr>
          <p:cNvPr id="6" name="sf">
            <a:extLst>
              <a:ext uri="{FF2B5EF4-FFF2-40B4-BE49-F238E27FC236}">
                <a16:creationId xmlns:a16="http://schemas.microsoft.com/office/drawing/2014/main" id="{D5C8E367-EC93-4B05-9EB6-85A266AE328D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4524375"/>
          </a:xfrm>
          <a:prstGeom prst="roundRect">
            <a:avLst>
              <a:gd name="adj" fmla="val 2526"/>
            </a:avLst>
          </a:prstGeom>
          <a:solidFill>
            <a:srgbClr val="F6F8FB"/>
          </a:solidFill>
          <a:ln w="9525">
            <a:solidFill>
              <a:srgbClr val="D7DFEA"/>
            </a:solidFill>
            <a:prstDash val="solid"/>
          </a:ln>
        </p:spPr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95224" y="1762125"/>
            <a:ext cx="8201553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91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pter-12">
            <a:extLst>
              <a:ext uri="{FF2B5EF4-FFF2-40B4-BE49-F238E27FC236}">
                <a16:creationId xmlns:a16="http://schemas.microsoft.com/office/drawing/2014/main" id="{26CE1751-BCBC-438F-B85C-86B5F3B0C918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478C9"/>
                </a:solidFill>
              </a:defRPr>
            </a:pPr>
            <a:r>
              <a:rPr sz="1050" b="1">
                <a:solidFill>
                  <a:srgbClr val="3478C9"/>
                </a:solidFill>
              </a:rPr>
              <a:t>III. DETAILED DESIGN</a:t>
            </a:r>
          </a:p>
        </p:txBody>
      </p:sp>
      <p:sp>
        <p:nvSpPr>
          <p:cNvPr id="2" name="title-12">
            <a:extLst>
              <a:ext uri="{FF2B5EF4-FFF2-40B4-BE49-F238E27FC236}">
                <a16:creationId xmlns:a16="http://schemas.microsoft.com/office/drawing/2014/main" id="{0E109653-CED5-46C6-A032-AD967EACC522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73A66"/>
                </a:solidFill>
              </a:defRPr>
            </a:pPr>
            <a:r>
              <a:rPr sz="2700" b="1">
                <a:solidFill>
                  <a:srgbClr val="173A66"/>
                </a:solidFill>
              </a:rPr>
              <a:t>6. Data Model</a:t>
            </a:r>
          </a:p>
        </p:txBody>
      </p:sp>
      <p:sp>
        <p:nvSpPr>
          <p:cNvPr id="3" name="rule-12">
            <a:extLst>
              <a:ext uri="{FF2B5EF4-FFF2-40B4-BE49-F238E27FC236}">
                <a16:creationId xmlns:a16="http://schemas.microsoft.com/office/drawing/2014/main" id="{DF09E4BF-5375-498B-90FE-44F1FF23394E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781050" cy="38100"/>
          </a:xfrm>
          <a:prstGeom prst="rect">
            <a:avLst/>
          </a:prstGeom>
          <a:solidFill>
            <a:srgbClr val="E3B341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4" name="foot-12">
            <a:extLst>
              <a:ext uri="{FF2B5EF4-FFF2-40B4-BE49-F238E27FC236}">
                <a16:creationId xmlns:a16="http://schemas.microsoft.com/office/drawing/2014/main" id="{C80B1701-AA92-48B6-BE7D-8F89E16ABBEA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GD1305  •  THE MOONSTONE</a:t>
            </a:r>
          </a:p>
        </p:txBody>
      </p:sp>
      <p:sp>
        <p:nvSpPr>
          <p:cNvPr id="5" name="page-12">
            <a:extLst>
              <a:ext uri="{FF2B5EF4-FFF2-40B4-BE49-F238E27FC236}">
                <a16:creationId xmlns:a16="http://schemas.microsoft.com/office/drawing/2014/main" id="{69CE49D7-8D8E-40FD-B0DB-0ECA80090094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12</a:t>
            </a:r>
          </a:p>
        </p:txBody>
      </p:sp>
      <p:sp>
        <p:nvSpPr>
          <p:cNvPr id="6" name="df">
            <a:extLst>
              <a:ext uri="{FF2B5EF4-FFF2-40B4-BE49-F238E27FC236}">
                <a16:creationId xmlns:a16="http://schemas.microsoft.com/office/drawing/2014/main" id="{88749CE1-81CE-4B18-9AB1-4B34A2FF1EE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4524375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76431" y="1762125"/>
            <a:ext cx="6839139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446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hapter-13">
            <a:extLst>
              <a:ext uri="{FF2B5EF4-FFF2-40B4-BE49-F238E27FC236}">
                <a16:creationId xmlns:a16="http://schemas.microsoft.com/office/drawing/2014/main" id="{A7BA132E-170F-457C-947F-C4178EE4432C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478C9"/>
                </a:solidFill>
              </a:defRPr>
            </a:pPr>
            <a:r>
              <a:rPr sz="1050" b="1">
                <a:solidFill>
                  <a:srgbClr val="3478C9"/>
                </a:solidFill>
              </a:rPr>
              <a:t>IV. TESTING</a:t>
            </a:r>
          </a:p>
        </p:txBody>
      </p:sp>
      <p:sp>
        <p:nvSpPr>
          <p:cNvPr id="2" name="title-13">
            <a:extLst>
              <a:ext uri="{FF2B5EF4-FFF2-40B4-BE49-F238E27FC236}">
                <a16:creationId xmlns:a16="http://schemas.microsoft.com/office/drawing/2014/main" id="{64C72B96-A640-40ED-8BC5-A50D7B284544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73A66"/>
                </a:solidFill>
              </a:defRPr>
            </a:pPr>
            <a:r>
              <a:rPr sz="2700" b="1">
                <a:solidFill>
                  <a:srgbClr val="173A66"/>
                </a:solidFill>
              </a:rPr>
              <a:t>Static checks are complete; runtime evidence remains explicit</a:t>
            </a:r>
          </a:p>
        </p:txBody>
      </p:sp>
      <p:sp>
        <p:nvSpPr>
          <p:cNvPr id="3" name="rule-13">
            <a:extLst>
              <a:ext uri="{FF2B5EF4-FFF2-40B4-BE49-F238E27FC236}">
                <a16:creationId xmlns:a16="http://schemas.microsoft.com/office/drawing/2014/main" id="{71671748-2D7E-43DC-A3F6-332E8839124B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781050" cy="38100"/>
          </a:xfrm>
          <a:prstGeom prst="rect">
            <a:avLst/>
          </a:prstGeom>
          <a:solidFill>
            <a:srgbClr val="E3B341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4" name="foot-13">
            <a:extLst>
              <a:ext uri="{FF2B5EF4-FFF2-40B4-BE49-F238E27FC236}">
                <a16:creationId xmlns:a16="http://schemas.microsoft.com/office/drawing/2014/main" id="{F02B4EB4-6AF8-45E9-8031-CF40C18B8C50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GD1305  •  THE MOONSTONE</a:t>
            </a:r>
          </a:p>
        </p:txBody>
      </p:sp>
      <p:sp>
        <p:nvSpPr>
          <p:cNvPr id="5" name="page-13">
            <a:extLst>
              <a:ext uri="{FF2B5EF4-FFF2-40B4-BE49-F238E27FC236}">
                <a16:creationId xmlns:a16="http://schemas.microsoft.com/office/drawing/2014/main" id="{9AAA3909-6418-489E-9AB6-B5EF1CAF068C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13</a:t>
            </a:r>
          </a:p>
        </p:txBody>
      </p:sp>
      <p:sp>
        <p:nvSpPr>
          <p:cNvPr id="6" name="m1">
            <a:extLst>
              <a:ext uri="{FF2B5EF4-FFF2-40B4-BE49-F238E27FC236}">
                <a16:creationId xmlns:a16="http://schemas.microsoft.com/office/drawing/2014/main" id="{1AD0C25E-5C9B-4286-85A1-5C418F1E0423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2762250" cy="1809750"/>
          </a:xfrm>
          <a:prstGeom prst="roundRect">
            <a:avLst>
              <a:gd name="adj" fmla="val 8421"/>
            </a:avLst>
          </a:prstGeom>
          <a:solidFill>
            <a:srgbClr val="EAF2FB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7" name="n1">
            <a:extLst>
              <a:ext uri="{FF2B5EF4-FFF2-40B4-BE49-F238E27FC236}">
                <a16:creationId xmlns:a16="http://schemas.microsoft.com/office/drawing/2014/main" id="{E1E04F08-6B62-4E36-9EED-CA91F2F79B82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22288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4350" b="1">
                <a:solidFill>
                  <a:srgbClr val="36A56F"/>
                </a:solidFill>
              </a:defRPr>
            </a:pPr>
            <a:r>
              <a:rPr sz="4350" b="1">
                <a:solidFill>
                  <a:srgbClr val="36A56F"/>
                </a:solidFill>
              </a:rPr>
              <a:t>9</a:t>
            </a:r>
          </a:p>
        </p:txBody>
      </p:sp>
      <p:sp>
        <p:nvSpPr>
          <p:cNvPr id="8" name="nt1">
            <a:extLst>
              <a:ext uri="{FF2B5EF4-FFF2-40B4-BE49-F238E27FC236}">
                <a16:creationId xmlns:a16="http://schemas.microsoft.com/office/drawing/2014/main" id="{CFCBDE79-0FE3-482B-9DD0-AC08776FD61B}"/>
              </a:ext>
            </a:extLst>
          </p:cNvPr>
          <p:cNvSpPr>
            <a:spLocks noGrp="1"/>
          </p:cNvSpPr>
          <p:nvPr/>
        </p:nvSpPr>
        <p:spPr>
          <a:xfrm>
            <a:off x="952500" y="2762250"/>
            <a:ext cx="2228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3A66"/>
                </a:solidFill>
              </a:defRPr>
            </a:pPr>
            <a:r>
              <a:rPr sz="1350" b="1">
                <a:solidFill>
                  <a:srgbClr val="173A66"/>
                </a:solidFill>
              </a:rPr>
              <a:t>PASS — STATIC</a:t>
            </a:r>
          </a:p>
        </p:txBody>
      </p:sp>
      <p:sp>
        <p:nvSpPr>
          <p:cNvPr id="9" name="m2">
            <a:extLst>
              <a:ext uri="{FF2B5EF4-FFF2-40B4-BE49-F238E27FC236}">
                <a16:creationId xmlns:a16="http://schemas.microsoft.com/office/drawing/2014/main" id="{95A53E19-0109-48CB-BCFF-652E635AF407}"/>
              </a:ext>
            </a:extLst>
          </p:cNvPr>
          <p:cNvSpPr>
            <a:spLocks noGrp="1"/>
          </p:cNvSpPr>
          <p:nvPr/>
        </p:nvSpPr>
        <p:spPr>
          <a:xfrm>
            <a:off x="3714750" y="1714500"/>
            <a:ext cx="2762250" cy="1809750"/>
          </a:xfrm>
          <a:prstGeom prst="roundRect">
            <a:avLst>
              <a:gd name="adj" fmla="val 8421"/>
            </a:avLst>
          </a:prstGeom>
          <a:solidFill>
            <a:srgbClr val="FFF5D8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10" name="n2">
            <a:extLst>
              <a:ext uri="{FF2B5EF4-FFF2-40B4-BE49-F238E27FC236}">
                <a16:creationId xmlns:a16="http://schemas.microsoft.com/office/drawing/2014/main" id="{6AAF9321-E20F-43A7-B451-51E40670ACD1}"/>
              </a:ext>
            </a:extLst>
          </p:cNvPr>
          <p:cNvSpPr>
            <a:spLocks noGrp="1"/>
          </p:cNvSpPr>
          <p:nvPr/>
        </p:nvSpPr>
        <p:spPr>
          <a:xfrm>
            <a:off x="3981450" y="1952625"/>
            <a:ext cx="22288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4350" b="1">
                <a:solidFill>
                  <a:srgbClr val="E3B341"/>
                </a:solidFill>
              </a:defRPr>
            </a:pPr>
            <a:r>
              <a:rPr sz="4350" b="1">
                <a:solidFill>
                  <a:srgbClr val="E3B341"/>
                </a:solidFill>
              </a:rPr>
              <a:t>3</a:t>
            </a:r>
          </a:p>
        </p:txBody>
      </p:sp>
      <p:sp>
        <p:nvSpPr>
          <p:cNvPr id="11" name="nt2">
            <a:extLst>
              <a:ext uri="{FF2B5EF4-FFF2-40B4-BE49-F238E27FC236}">
                <a16:creationId xmlns:a16="http://schemas.microsoft.com/office/drawing/2014/main" id="{49D35023-2F4C-4A15-8D9F-2ED571557576}"/>
              </a:ext>
            </a:extLst>
          </p:cNvPr>
          <p:cNvSpPr>
            <a:spLocks noGrp="1"/>
          </p:cNvSpPr>
          <p:nvPr/>
        </p:nvSpPr>
        <p:spPr>
          <a:xfrm>
            <a:off x="3886200" y="2762250"/>
            <a:ext cx="2419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3A66"/>
                </a:solidFill>
              </a:defRPr>
            </a:pPr>
            <a:r>
              <a:rPr sz="1275" b="1">
                <a:solidFill>
                  <a:srgbClr val="173A66"/>
                </a:solidFill>
              </a:rPr>
              <a:t>PLAY MODE REQUIRED</a:t>
            </a:r>
          </a:p>
        </p:txBody>
      </p:sp>
      <p:sp>
        <p:nvSpPr>
          <p:cNvPr id="12" name="checks">
            <a:extLst>
              <a:ext uri="{FF2B5EF4-FFF2-40B4-BE49-F238E27FC236}">
                <a16:creationId xmlns:a16="http://schemas.microsoft.com/office/drawing/2014/main" id="{79F2C93A-3BDE-4CA9-A696-52EED4FBB741}"/>
              </a:ext>
            </a:extLst>
          </p:cNvPr>
          <p:cNvSpPr>
            <a:spLocks noGrp="1"/>
          </p:cNvSpPr>
          <p:nvPr/>
        </p:nvSpPr>
        <p:spPr>
          <a:xfrm>
            <a:off x="6762750" y="1714500"/>
            <a:ext cx="4743450" cy="1809750"/>
          </a:xfrm>
          <a:prstGeom prst="roundRect">
            <a:avLst>
              <a:gd name="adj" fmla="val 8421"/>
            </a:avLst>
          </a:prstGeom>
          <a:solidFill>
            <a:srgbClr val="F6F8FB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13" name="ch">
            <a:extLst>
              <a:ext uri="{FF2B5EF4-FFF2-40B4-BE49-F238E27FC236}">
                <a16:creationId xmlns:a16="http://schemas.microsoft.com/office/drawing/2014/main" id="{0A0070BD-89D5-4966-A571-DF27CE629D60}"/>
              </a:ext>
            </a:extLst>
          </p:cNvPr>
          <p:cNvSpPr>
            <a:spLocks noGrp="1"/>
          </p:cNvSpPr>
          <p:nvPr/>
        </p:nvSpPr>
        <p:spPr>
          <a:xfrm>
            <a:off x="7096125" y="1952625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3478C9"/>
                </a:solidFill>
              </a:defRPr>
            </a:pPr>
            <a:r>
              <a:rPr sz="1350" b="1">
                <a:solidFill>
                  <a:srgbClr val="3478C9"/>
                </a:solidFill>
              </a:rPr>
              <a:t>RUNTIME CHECKS</a:t>
            </a:r>
          </a:p>
        </p:txBody>
      </p:sp>
      <p:sp>
        <p:nvSpPr>
          <p:cNvPr id="14" name="c1">
            <a:extLst>
              <a:ext uri="{FF2B5EF4-FFF2-40B4-BE49-F238E27FC236}">
                <a16:creationId xmlns:a16="http://schemas.microsoft.com/office/drawing/2014/main" id="{F9734483-3854-4D12-A3B6-5A09505570CD}"/>
              </a:ext>
            </a:extLst>
          </p:cNvPr>
          <p:cNvSpPr>
            <a:spLocks noGrp="1"/>
          </p:cNvSpPr>
          <p:nvPr/>
        </p:nvSpPr>
        <p:spPr>
          <a:xfrm>
            <a:off x="7096125" y="238125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21827"/>
                </a:solidFill>
              </a:defRPr>
            </a:pPr>
            <a:r>
              <a:rPr sz="1275" b="0">
                <a:solidFill>
                  <a:srgbClr val="121827"/>
                </a:solidFill>
              </a:rPr>
              <a:t>•  Player movement</a:t>
            </a:r>
          </a:p>
        </p:txBody>
      </p:sp>
      <p:sp>
        <p:nvSpPr>
          <p:cNvPr id="15" name="c2">
            <a:extLst>
              <a:ext uri="{FF2B5EF4-FFF2-40B4-BE49-F238E27FC236}">
                <a16:creationId xmlns:a16="http://schemas.microsoft.com/office/drawing/2014/main" id="{D8EDE857-DB64-4947-8D11-F08E0EDECB08}"/>
              </a:ext>
            </a:extLst>
          </p:cNvPr>
          <p:cNvSpPr>
            <a:spLocks noGrp="1"/>
          </p:cNvSpPr>
          <p:nvPr/>
        </p:nvSpPr>
        <p:spPr>
          <a:xfrm>
            <a:off x="7096125" y="27813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21827"/>
                </a:solidFill>
              </a:defRPr>
            </a:pPr>
            <a:r>
              <a:rPr sz="1275" b="0">
                <a:solidFill>
                  <a:srgbClr val="121827"/>
                </a:solidFill>
              </a:rPr>
              <a:t>•  Enemy ground contact</a:t>
            </a:r>
          </a:p>
        </p:txBody>
      </p:sp>
      <p:sp>
        <p:nvSpPr>
          <p:cNvPr id="16" name="c3">
            <a:extLst>
              <a:ext uri="{FF2B5EF4-FFF2-40B4-BE49-F238E27FC236}">
                <a16:creationId xmlns:a16="http://schemas.microsoft.com/office/drawing/2014/main" id="{395DEE3B-F546-4311-A119-BE55D93EBA94}"/>
              </a:ext>
            </a:extLst>
          </p:cNvPr>
          <p:cNvSpPr>
            <a:spLocks noGrp="1"/>
          </p:cNvSpPr>
          <p:nvPr/>
        </p:nvSpPr>
        <p:spPr>
          <a:xfrm>
            <a:off x="7096125" y="318135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21827"/>
                </a:solidFill>
              </a:defRPr>
            </a:pPr>
            <a:r>
              <a:rPr sz="1275" b="0">
                <a:solidFill>
                  <a:srgbClr val="121827"/>
                </a:solidFill>
              </a:rPr>
              <a:t>•  Pause and resume</a:t>
            </a:r>
          </a:p>
        </p:txBody>
      </p:sp>
      <p:sp>
        <p:nvSpPr>
          <p:cNvPr id="17" name="acc">
            <a:extLst>
              <a:ext uri="{FF2B5EF4-FFF2-40B4-BE49-F238E27FC236}">
                <a16:creationId xmlns:a16="http://schemas.microsoft.com/office/drawing/2014/main" id="{5BDEDAA3-0B2B-42AA-9EA7-E86514BA6AD0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3478C9"/>
                </a:solidFill>
              </a:defRPr>
            </a:pPr>
            <a:r>
              <a:rPr sz="1350" b="1">
                <a:solidFill>
                  <a:srgbClr val="3478C9"/>
                </a:solidFill>
              </a:rPr>
              <a:t>ACCEPTANCE CRITERIA</a:t>
            </a:r>
          </a:p>
        </p:txBody>
      </p:sp>
      <p:sp>
        <p:nvSpPr>
          <p:cNvPr id="18" name="ac-0">
            <a:extLst>
              <a:ext uri="{FF2B5EF4-FFF2-40B4-BE49-F238E27FC236}">
                <a16:creationId xmlns:a16="http://schemas.microsoft.com/office/drawing/2014/main" id="{47AA4858-F13D-429B-9368-F602F1CFDDB7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21827"/>
                </a:solidFill>
              </a:defRPr>
            </a:pPr>
            <a:r>
              <a:rPr sz="1275" b="0">
                <a:solidFill>
                  <a:srgbClr val="121827"/>
                </a:solidFill>
              </a:rPr>
              <a:t>•  No compile errors</a:t>
            </a:r>
          </a:p>
        </p:txBody>
      </p:sp>
      <p:sp>
        <p:nvSpPr>
          <p:cNvPr id="19" name="ac-1">
            <a:extLst>
              <a:ext uri="{FF2B5EF4-FFF2-40B4-BE49-F238E27FC236}">
                <a16:creationId xmlns:a16="http://schemas.microsoft.com/office/drawing/2014/main" id="{9260E665-FB68-433C-9DBF-0AE698330DF5}"/>
              </a:ext>
            </a:extLst>
          </p:cNvPr>
          <p:cNvSpPr>
            <a:spLocks noGrp="1"/>
          </p:cNvSpPr>
          <p:nvPr/>
        </p:nvSpPr>
        <p:spPr>
          <a:xfrm>
            <a:off x="5924550" y="452437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21827"/>
                </a:solidFill>
              </a:defRPr>
            </a:pPr>
            <a:r>
              <a:rPr sz="1275" b="0">
                <a:solidFill>
                  <a:srgbClr val="121827"/>
                </a:solidFill>
              </a:rPr>
              <a:t>•  No spawn-time visual flashing</a:t>
            </a:r>
          </a:p>
        </p:txBody>
      </p:sp>
      <p:sp>
        <p:nvSpPr>
          <p:cNvPr id="20" name="ac-2">
            <a:extLst>
              <a:ext uri="{FF2B5EF4-FFF2-40B4-BE49-F238E27FC236}">
                <a16:creationId xmlns:a16="http://schemas.microsoft.com/office/drawing/2014/main" id="{8FEF9BFB-E7B5-4BF8-9813-5052E5CEF403}"/>
              </a:ext>
            </a:extLst>
          </p:cNvPr>
          <p:cNvSpPr>
            <a:spLocks noGrp="1"/>
          </p:cNvSpPr>
          <p:nvPr/>
        </p:nvSpPr>
        <p:spPr>
          <a:xfrm>
            <a:off x="685800" y="498157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21827"/>
                </a:solidFill>
              </a:defRPr>
            </a:pPr>
            <a:r>
              <a:rPr sz="1275" b="0">
                <a:solidFill>
                  <a:srgbClr val="121827"/>
                </a:solidFill>
              </a:rPr>
              <a:t>•  DogMutant speed stays synchronized</a:t>
            </a:r>
          </a:p>
        </p:txBody>
      </p:sp>
      <p:sp>
        <p:nvSpPr>
          <p:cNvPr id="21" name="ac-3">
            <a:extLst>
              <a:ext uri="{FF2B5EF4-FFF2-40B4-BE49-F238E27FC236}">
                <a16:creationId xmlns:a16="http://schemas.microsoft.com/office/drawing/2014/main" id="{46AF30BC-B4BE-4A72-AE52-F572E4FF6AC6}"/>
              </a:ext>
            </a:extLst>
          </p:cNvPr>
          <p:cNvSpPr>
            <a:spLocks noGrp="1"/>
          </p:cNvSpPr>
          <p:nvPr/>
        </p:nvSpPr>
        <p:spPr>
          <a:xfrm>
            <a:off x="5924550" y="498157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21827"/>
                </a:solidFill>
              </a:defRPr>
            </a:pPr>
            <a:r>
              <a:rPr sz="1275" b="0">
                <a:solidFill>
                  <a:srgbClr val="121827"/>
                </a:solidFill>
              </a:rPr>
              <a:t>•  Settings sliders remain clamped</a:t>
            </a:r>
          </a:p>
        </p:txBody>
      </p:sp>
      <p:sp>
        <p:nvSpPr>
          <p:cNvPr id="22" name="ac-4">
            <a:extLst>
              <a:ext uri="{FF2B5EF4-FFF2-40B4-BE49-F238E27FC236}">
                <a16:creationId xmlns:a16="http://schemas.microsoft.com/office/drawing/2014/main" id="{ADD9CD45-2E30-4589-B538-D40AD72971CE}"/>
              </a:ext>
            </a:extLst>
          </p:cNvPr>
          <p:cNvSpPr>
            <a:spLocks noGrp="1"/>
          </p:cNvSpPr>
          <p:nvPr/>
        </p:nvSpPr>
        <p:spPr>
          <a:xfrm>
            <a:off x="685800" y="543877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21827"/>
                </a:solidFill>
              </a:defRPr>
            </a:pPr>
            <a:r>
              <a:rPr sz="1275" b="0">
                <a:solidFill>
                  <a:srgbClr val="121827"/>
                </a:solidFill>
              </a:rPr>
              <a:t>•  Final wave reaches a terminal state</a:t>
            </a:r>
          </a:p>
        </p:txBody>
      </p:sp>
    </p:spTree>
    <p:extLst>
      <p:ext uri="{BB962C8B-B14F-4D97-AF65-F5344CB8AC3E}">
        <p14:creationId xmlns:p14="http://schemas.microsoft.com/office/powerpoint/2010/main" val="789076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-14">
            <a:extLst>
              <a:ext uri="{FF2B5EF4-FFF2-40B4-BE49-F238E27FC236}">
                <a16:creationId xmlns:a16="http://schemas.microsoft.com/office/drawing/2014/main" id="{C42702BF-41AF-4825-ADCC-EE67333BE054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478C9"/>
                </a:solidFill>
              </a:defRPr>
            </a:pPr>
            <a:r>
              <a:rPr sz="1050" b="1">
                <a:solidFill>
                  <a:srgbClr val="3478C9"/>
                </a:solidFill>
              </a:rPr>
              <a:t>V. TASK ASSIGNMENT</a:t>
            </a:r>
          </a:p>
        </p:txBody>
      </p:sp>
      <p:sp>
        <p:nvSpPr>
          <p:cNvPr id="2" name="title-14">
            <a:extLst>
              <a:ext uri="{FF2B5EF4-FFF2-40B4-BE49-F238E27FC236}">
                <a16:creationId xmlns:a16="http://schemas.microsoft.com/office/drawing/2014/main" id="{CF1DD029-CC87-4EAD-9472-079B7356EA84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73A66"/>
                </a:solidFill>
              </a:defRPr>
            </a:pPr>
            <a:r>
              <a:rPr sz="2700" b="1">
                <a:solidFill>
                  <a:srgbClr val="173A66"/>
                </a:solidFill>
              </a:rPr>
              <a:t>The work is divided across core systems, UI, and delivery</a:t>
            </a:r>
          </a:p>
        </p:txBody>
      </p:sp>
      <p:sp>
        <p:nvSpPr>
          <p:cNvPr id="3" name="rule-14">
            <a:extLst>
              <a:ext uri="{FF2B5EF4-FFF2-40B4-BE49-F238E27FC236}">
                <a16:creationId xmlns:a16="http://schemas.microsoft.com/office/drawing/2014/main" id="{8FD6F7A4-1166-4BFE-9E1A-9F4DB0255058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781050" cy="38100"/>
          </a:xfrm>
          <a:prstGeom prst="rect">
            <a:avLst/>
          </a:prstGeom>
          <a:solidFill>
            <a:srgbClr val="E3B341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4" name="foot-14">
            <a:extLst>
              <a:ext uri="{FF2B5EF4-FFF2-40B4-BE49-F238E27FC236}">
                <a16:creationId xmlns:a16="http://schemas.microsoft.com/office/drawing/2014/main" id="{FF775D53-BDD0-4298-A00F-461B0E9686C1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GD1305  •  THE MOONSTONE</a:t>
            </a:r>
          </a:p>
        </p:txBody>
      </p:sp>
      <p:sp>
        <p:nvSpPr>
          <p:cNvPr id="5" name="page-14">
            <a:extLst>
              <a:ext uri="{FF2B5EF4-FFF2-40B4-BE49-F238E27FC236}">
                <a16:creationId xmlns:a16="http://schemas.microsoft.com/office/drawing/2014/main" id="{86C98AAA-B486-4C0D-BD7F-6D45520EECE8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14</a:t>
            </a:r>
          </a:p>
        </p:txBody>
      </p:sp>
      <p:sp>
        <p:nvSpPr>
          <p:cNvPr id="6" name="vt">
            <a:extLst>
              <a:ext uri="{FF2B5EF4-FFF2-40B4-BE49-F238E27FC236}">
                <a16:creationId xmlns:a16="http://schemas.microsoft.com/office/drawing/2014/main" id="{69B6910B-B6A4-46E9-9FAF-69682CE04588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4953000" cy="3238500"/>
          </a:xfrm>
          <a:prstGeom prst="roundRect">
            <a:avLst>
              <a:gd name="adj" fmla="val 4706"/>
            </a:avLst>
          </a:prstGeom>
          <a:solidFill>
            <a:srgbClr val="EAF2FB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7" name="vtn">
            <a:extLst>
              <a:ext uri="{FF2B5EF4-FFF2-40B4-BE49-F238E27FC236}">
                <a16:creationId xmlns:a16="http://schemas.microsoft.com/office/drawing/2014/main" id="{549FF845-0422-4286-90BE-AC4DBA56EE6B}"/>
              </a:ext>
            </a:extLst>
          </p:cNvPr>
          <p:cNvSpPr>
            <a:spLocks noGrp="1"/>
          </p:cNvSpPr>
          <p:nvPr/>
        </p:nvSpPr>
        <p:spPr>
          <a:xfrm>
            <a:off x="1000125" y="2047875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73A66"/>
                </a:solidFill>
              </a:defRPr>
            </a:pPr>
            <a:r>
              <a:rPr sz="1875" b="1">
                <a:solidFill>
                  <a:srgbClr val="173A66"/>
                </a:solidFill>
              </a:rPr>
              <a:t>VU VIET TIEN</a:t>
            </a:r>
          </a:p>
        </p:txBody>
      </p:sp>
      <p:sp>
        <p:nvSpPr>
          <p:cNvPr id="8" name="v1">
            <a:extLst>
              <a:ext uri="{FF2B5EF4-FFF2-40B4-BE49-F238E27FC236}">
                <a16:creationId xmlns:a16="http://schemas.microsoft.com/office/drawing/2014/main" id="{269C1579-1B57-47D2-9561-AFE93B77A3DA}"/>
              </a:ext>
            </a:extLst>
          </p:cNvPr>
          <p:cNvSpPr>
            <a:spLocks noGrp="1"/>
          </p:cNvSpPr>
          <p:nvPr/>
        </p:nvSpPr>
        <p:spPr>
          <a:xfrm>
            <a:off x="1000125" y="276225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21827"/>
                </a:solidFill>
              </a:defRPr>
            </a:pPr>
            <a:r>
              <a:rPr sz="1350" b="0">
                <a:solidFill>
                  <a:srgbClr val="121827"/>
                </a:solidFill>
              </a:rPr>
              <a:t>•  Requirement analysis and architecture design</a:t>
            </a:r>
          </a:p>
        </p:txBody>
      </p:sp>
      <p:sp>
        <p:nvSpPr>
          <p:cNvPr id="9" name="v2">
            <a:extLst>
              <a:ext uri="{FF2B5EF4-FFF2-40B4-BE49-F238E27FC236}">
                <a16:creationId xmlns:a16="http://schemas.microsoft.com/office/drawing/2014/main" id="{62FF13D2-F6F4-4DCC-8D35-F1626831EAEF}"/>
              </a:ext>
            </a:extLst>
          </p:cNvPr>
          <p:cNvSpPr>
            <a:spLocks noGrp="1"/>
          </p:cNvSpPr>
          <p:nvPr/>
        </p:nvSpPr>
        <p:spPr>
          <a:xfrm>
            <a:off x="1000125" y="3286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21827"/>
                </a:solidFill>
              </a:defRPr>
            </a:pPr>
            <a:r>
              <a:rPr sz="1350" b="0">
                <a:solidFill>
                  <a:srgbClr val="121827"/>
                </a:solidFill>
              </a:rPr>
              <a:t>•  OOP/ECS gameplay, waves, combat, and XP</a:t>
            </a:r>
          </a:p>
        </p:txBody>
      </p:sp>
      <p:sp>
        <p:nvSpPr>
          <p:cNvPr id="10" name="v3">
            <a:extLst>
              <a:ext uri="{FF2B5EF4-FFF2-40B4-BE49-F238E27FC236}">
                <a16:creationId xmlns:a16="http://schemas.microsoft.com/office/drawing/2014/main" id="{2C4681B8-E94E-4458-A8FC-4F6E77C23B0C}"/>
              </a:ext>
            </a:extLst>
          </p:cNvPr>
          <p:cNvSpPr>
            <a:spLocks noGrp="1"/>
          </p:cNvSpPr>
          <p:nvPr/>
        </p:nvSpPr>
        <p:spPr>
          <a:xfrm>
            <a:off x="1000125" y="381000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21827"/>
                </a:solidFill>
              </a:defRPr>
            </a:pPr>
            <a:r>
              <a:rPr sz="1350" b="0">
                <a:solidFill>
                  <a:srgbClr val="121827"/>
                </a:solidFill>
              </a:rPr>
              <a:t>•  Testing, bug fixing, and report writing</a:t>
            </a:r>
          </a:p>
        </p:txBody>
      </p:sp>
      <p:sp>
        <p:nvSpPr>
          <p:cNvPr id="11" name="ct">
            <a:extLst>
              <a:ext uri="{FF2B5EF4-FFF2-40B4-BE49-F238E27FC236}">
                <a16:creationId xmlns:a16="http://schemas.microsoft.com/office/drawing/2014/main" id="{811557F6-C2E3-4D01-B559-77BDDFEE963D}"/>
              </a:ext>
            </a:extLst>
          </p:cNvPr>
          <p:cNvSpPr>
            <a:spLocks noGrp="1"/>
          </p:cNvSpPr>
          <p:nvPr/>
        </p:nvSpPr>
        <p:spPr>
          <a:xfrm>
            <a:off x="5867400" y="1714500"/>
            <a:ext cx="5638800" cy="3238500"/>
          </a:xfrm>
          <a:prstGeom prst="roundRect">
            <a:avLst>
              <a:gd name="adj" fmla="val 4706"/>
            </a:avLst>
          </a:prstGeom>
          <a:solidFill>
            <a:srgbClr val="FFF5D8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12" name="ctn">
            <a:extLst>
              <a:ext uri="{FF2B5EF4-FFF2-40B4-BE49-F238E27FC236}">
                <a16:creationId xmlns:a16="http://schemas.microsoft.com/office/drawing/2014/main" id="{934A4FAF-B523-4986-9554-63E942A49B58}"/>
              </a:ext>
            </a:extLst>
          </p:cNvPr>
          <p:cNvSpPr>
            <a:spLocks noGrp="1"/>
          </p:cNvSpPr>
          <p:nvPr/>
        </p:nvSpPr>
        <p:spPr>
          <a:xfrm>
            <a:off x="6191250" y="2047875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73A66"/>
                </a:solidFill>
              </a:defRPr>
            </a:pPr>
            <a:r>
              <a:rPr sz="1875" b="1">
                <a:solidFill>
                  <a:srgbClr val="173A66"/>
                </a:solidFill>
              </a:rPr>
              <a:t>CHU VAN THAI</a:t>
            </a:r>
          </a:p>
        </p:txBody>
      </p:sp>
      <p:sp>
        <p:nvSpPr>
          <p:cNvPr id="13" name="t1">
            <a:extLst>
              <a:ext uri="{FF2B5EF4-FFF2-40B4-BE49-F238E27FC236}">
                <a16:creationId xmlns:a16="http://schemas.microsoft.com/office/drawing/2014/main" id="{0D02DC2B-6D92-49F0-927B-DDD79F4E167F}"/>
              </a:ext>
            </a:extLst>
          </p:cNvPr>
          <p:cNvSpPr>
            <a:spLocks noGrp="1"/>
          </p:cNvSpPr>
          <p:nvPr/>
        </p:nvSpPr>
        <p:spPr>
          <a:xfrm>
            <a:off x="6191250" y="276225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21827"/>
                </a:solidFill>
              </a:defRPr>
            </a:pPr>
            <a:r>
              <a:rPr sz="1350" b="0">
                <a:solidFill>
                  <a:srgbClr val="121827"/>
                </a:solidFill>
              </a:rPr>
              <a:t>•  OOP/ECS implementation support</a:t>
            </a:r>
          </a:p>
        </p:txBody>
      </p:sp>
      <p:sp>
        <p:nvSpPr>
          <p:cNvPr id="14" name="t2">
            <a:extLst>
              <a:ext uri="{FF2B5EF4-FFF2-40B4-BE49-F238E27FC236}">
                <a16:creationId xmlns:a16="http://schemas.microsoft.com/office/drawing/2014/main" id="{B2E6C4F9-F40F-4132-85A4-061899493A1C}"/>
              </a:ext>
            </a:extLst>
          </p:cNvPr>
          <p:cNvSpPr>
            <a:spLocks noGrp="1"/>
          </p:cNvSpPr>
          <p:nvPr/>
        </p:nvSpPr>
        <p:spPr>
          <a:xfrm>
            <a:off x="6191250" y="3286125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21827"/>
                </a:solidFill>
              </a:defRPr>
            </a:pPr>
            <a:r>
              <a:rPr sz="1350" b="0">
                <a:solidFill>
                  <a:srgbClr val="121827"/>
                </a:solidFill>
              </a:rPr>
              <a:t>•  Main Menu, HUD, and Settings Canvas</a:t>
            </a:r>
          </a:p>
        </p:txBody>
      </p:sp>
      <p:sp>
        <p:nvSpPr>
          <p:cNvPr id="15" name="t3">
            <a:extLst>
              <a:ext uri="{FF2B5EF4-FFF2-40B4-BE49-F238E27FC236}">
                <a16:creationId xmlns:a16="http://schemas.microsoft.com/office/drawing/2014/main" id="{FF37A36C-40A8-4413-96D4-DB885A9F42EC}"/>
              </a:ext>
            </a:extLst>
          </p:cNvPr>
          <p:cNvSpPr>
            <a:spLocks noGrp="1"/>
          </p:cNvSpPr>
          <p:nvPr/>
        </p:nvSpPr>
        <p:spPr>
          <a:xfrm>
            <a:off x="6191250" y="381000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21827"/>
                </a:solidFill>
              </a:defRPr>
            </a:pPr>
            <a:r>
              <a:rPr sz="1350" b="0">
                <a:solidFill>
                  <a:srgbClr val="121827"/>
                </a:solidFill>
              </a:rPr>
              <a:t>•  Enemy and DogMutant visuals / animation</a:t>
            </a:r>
          </a:p>
        </p:txBody>
      </p:sp>
      <p:sp>
        <p:nvSpPr>
          <p:cNvPr id="16" name="pending">
            <a:extLst>
              <a:ext uri="{FF2B5EF4-FFF2-40B4-BE49-F238E27FC236}">
                <a16:creationId xmlns:a16="http://schemas.microsoft.com/office/drawing/2014/main" id="{EB5C80FD-CB36-4EC3-9FB1-8246C41470C1}"/>
              </a:ext>
            </a:extLst>
          </p:cNvPr>
          <p:cNvSpPr>
            <a:spLocks noGrp="1"/>
          </p:cNvSpPr>
          <p:nvPr/>
        </p:nvSpPr>
        <p:spPr>
          <a:xfrm>
            <a:off x="2190750" y="5381625"/>
            <a:ext cx="781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21827"/>
                </a:solidFill>
              </a:defRPr>
            </a:pPr>
            <a:r>
              <a:rPr sz="1575" b="1">
                <a:solidFill>
                  <a:srgbClr val="121827"/>
                </a:solidFill>
              </a:rPr>
              <a:t>Final Play Mode regression remains pending before delivery.</a:t>
            </a:r>
          </a:p>
        </p:txBody>
      </p:sp>
    </p:spTree>
    <p:extLst>
      <p:ext uri="{BB962C8B-B14F-4D97-AF65-F5344CB8AC3E}">
        <p14:creationId xmlns:p14="http://schemas.microsoft.com/office/powerpoint/2010/main" val="915067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hapter-15">
            <a:extLst>
              <a:ext uri="{FF2B5EF4-FFF2-40B4-BE49-F238E27FC236}">
                <a16:creationId xmlns:a16="http://schemas.microsoft.com/office/drawing/2014/main" id="{9A5A9894-9B44-4360-9DAE-EE83D8AAFCE6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478C9"/>
                </a:solidFill>
              </a:defRPr>
            </a:pPr>
            <a:r>
              <a:rPr sz="1050" b="1">
                <a:solidFill>
                  <a:srgbClr val="3478C9"/>
                </a:solidFill>
              </a:rPr>
              <a:t>VI. INSTALLATION INSTRUCTIONS</a:t>
            </a:r>
          </a:p>
        </p:txBody>
      </p:sp>
      <p:sp>
        <p:nvSpPr>
          <p:cNvPr id="2" name="title-15">
            <a:extLst>
              <a:ext uri="{FF2B5EF4-FFF2-40B4-BE49-F238E27FC236}">
                <a16:creationId xmlns:a16="http://schemas.microsoft.com/office/drawing/2014/main" id="{0066197E-122E-471A-9F54-C27E70C16355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73A66"/>
                </a:solidFill>
              </a:defRPr>
            </a:pPr>
            <a:r>
              <a:rPr sz="2700" b="1">
                <a:solidFill>
                  <a:srgbClr val="173A66"/>
                </a:solidFill>
              </a:rPr>
              <a:t>Build and verify the project on Android</a:t>
            </a:r>
          </a:p>
        </p:txBody>
      </p:sp>
      <p:sp>
        <p:nvSpPr>
          <p:cNvPr id="3" name="rule-15">
            <a:extLst>
              <a:ext uri="{FF2B5EF4-FFF2-40B4-BE49-F238E27FC236}">
                <a16:creationId xmlns:a16="http://schemas.microsoft.com/office/drawing/2014/main" id="{B13C171A-FC8C-455F-B67B-DE5FC2986F19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781050" cy="38100"/>
          </a:xfrm>
          <a:prstGeom prst="rect">
            <a:avLst/>
          </a:prstGeom>
          <a:solidFill>
            <a:srgbClr val="E3B341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4" name="foot-15">
            <a:extLst>
              <a:ext uri="{FF2B5EF4-FFF2-40B4-BE49-F238E27FC236}">
                <a16:creationId xmlns:a16="http://schemas.microsoft.com/office/drawing/2014/main" id="{91F38B26-DA2C-4522-BEFB-1654AF47BA11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GD1305  •  THE MOONSTONE</a:t>
            </a:r>
          </a:p>
        </p:txBody>
      </p:sp>
      <p:sp>
        <p:nvSpPr>
          <p:cNvPr id="5" name="page-15">
            <a:extLst>
              <a:ext uri="{FF2B5EF4-FFF2-40B4-BE49-F238E27FC236}">
                <a16:creationId xmlns:a16="http://schemas.microsoft.com/office/drawing/2014/main" id="{8A4BB303-AB82-4266-B7F2-E9BC4A071B46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15</a:t>
            </a:r>
          </a:p>
        </p:txBody>
      </p:sp>
      <p:sp>
        <p:nvSpPr>
          <p:cNvPr id="6" name="inst-0">
            <a:extLst>
              <a:ext uri="{FF2B5EF4-FFF2-40B4-BE49-F238E27FC236}">
                <a16:creationId xmlns:a16="http://schemas.microsoft.com/office/drawing/2014/main" id="{7B09DA2C-0D98-4DD0-AA30-4E09CCBAA5B0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2952750" cy="352425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7" name="ih-0">
            <a:extLst>
              <a:ext uri="{FF2B5EF4-FFF2-40B4-BE49-F238E27FC236}">
                <a16:creationId xmlns:a16="http://schemas.microsoft.com/office/drawing/2014/main" id="{F3D8FA4C-47A8-4AB4-9657-4556BB7A23F3}"/>
              </a:ext>
            </a:extLst>
          </p:cNvPr>
          <p:cNvSpPr>
            <a:spLocks noGrp="1"/>
          </p:cNvSpPr>
          <p:nvPr/>
        </p:nvSpPr>
        <p:spPr>
          <a:xfrm>
            <a:off x="914400" y="2047875"/>
            <a:ext cx="2495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73A66"/>
                </a:solidFill>
              </a:defRPr>
            </a:pPr>
            <a:r>
              <a:rPr sz="1425" b="1">
                <a:solidFill>
                  <a:srgbClr val="173A66"/>
                </a:solidFill>
              </a:rPr>
              <a:t>1. PREREQUISITES</a:t>
            </a:r>
          </a:p>
        </p:txBody>
      </p:sp>
      <p:sp>
        <p:nvSpPr>
          <p:cNvPr id="8" name="ib-0-0">
            <a:extLst>
              <a:ext uri="{FF2B5EF4-FFF2-40B4-BE49-F238E27FC236}">
                <a16:creationId xmlns:a16="http://schemas.microsoft.com/office/drawing/2014/main" id="{C3D57C1D-347D-4469-B983-43A0FAA8CE07}"/>
              </a:ext>
            </a:extLst>
          </p:cNvPr>
          <p:cNvSpPr>
            <a:spLocks noGrp="1"/>
          </p:cNvSpPr>
          <p:nvPr/>
        </p:nvSpPr>
        <p:spPr>
          <a:xfrm>
            <a:off x="914400" y="2714625"/>
            <a:ext cx="2495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21827"/>
                </a:solidFill>
              </a:defRPr>
            </a:pPr>
            <a:r>
              <a:rPr sz="1200" b="0">
                <a:solidFill>
                  <a:srgbClr val="121827"/>
                </a:solidFill>
              </a:rPr>
              <a:t>•  Unity Hub and Editor 6000.3.10f1</a:t>
            </a:r>
          </a:p>
        </p:txBody>
      </p:sp>
      <p:sp>
        <p:nvSpPr>
          <p:cNvPr id="9" name="ib-0-1">
            <a:extLst>
              <a:ext uri="{FF2B5EF4-FFF2-40B4-BE49-F238E27FC236}">
                <a16:creationId xmlns:a16="http://schemas.microsoft.com/office/drawing/2014/main" id="{04610AFD-9EF6-41D4-B9B3-ECBDDC69393E}"/>
              </a:ext>
            </a:extLst>
          </p:cNvPr>
          <p:cNvSpPr>
            <a:spLocks noGrp="1"/>
          </p:cNvSpPr>
          <p:nvPr/>
        </p:nvSpPr>
        <p:spPr>
          <a:xfrm>
            <a:off x="914400" y="3267075"/>
            <a:ext cx="2495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21827"/>
                </a:solidFill>
              </a:defRPr>
            </a:pPr>
            <a:r>
              <a:rPr sz="1200" b="0">
                <a:solidFill>
                  <a:srgbClr val="121827"/>
                </a:solidFill>
              </a:rPr>
              <a:t>•  Android Build Support</a:t>
            </a:r>
          </a:p>
        </p:txBody>
      </p:sp>
      <p:sp>
        <p:nvSpPr>
          <p:cNvPr id="10" name="ib-0-2">
            <a:extLst>
              <a:ext uri="{FF2B5EF4-FFF2-40B4-BE49-F238E27FC236}">
                <a16:creationId xmlns:a16="http://schemas.microsoft.com/office/drawing/2014/main" id="{890975BE-DE47-451A-B36A-3FD98B29B0D2}"/>
              </a:ext>
            </a:extLst>
          </p:cNvPr>
          <p:cNvSpPr>
            <a:spLocks noGrp="1"/>
          </p:cNvSpPr>
          <p:nvPr/>
        </p:nvSpPr>
        <p:spPr>
          <a:xfrm>
            <a:off x="914400" y="3819525"/>
            <a:ext cx="2495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21827"/>
                </a:solidFill>
              </a:defRPr>
            </a:pPr>
            <a:r>
              <a:rPr sz="1200" b="0">
                <a:solidFill>
                  <a:srgbClr val="121827"/>
                </a:solidFill>
              </a:rPr>
              <a:t>•  SDK, NDK, OpenJDK</a:t>
            </a:r>
          </a:p>
        </p:txBody>
      </p:sp>
      <p:sp>
        <p:nvSpPr>
          <p:cNvPr id="11" name="ib-0-3">
            <a:extLst>
              <a:ext uri="{FF2B5EF4-FFF2-40B4-BE49-F238E27FC236}">
                <a16:creationId xmlns:a16="http://schemas.microsoft.com/office/drawing/2014/main" id="{FB4412AC-BCF6-4E5D-9200-D22BFE0B4B98}"/>
              </a:ext>
            </a:extLst>
          </p:cNvPr>
          <p:cNvSpPr>
            <a:spLocks noGrp="1"/>
          </p:cNvSpPr>
          <p:nvPr/>
        </p:nvSpPr>
        <p:spPr>
          <a:xfrm>
            <a:off x="914400" y="4371975"/>
            <a:ext cx="2495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21827"/>
                </a:solidFill>
              </a:defRPr>
            </a:pPr>
            <a:r>
              <a:rPr sz="1200" b="0">
                <a:solidFill>
                  <a:srgbClr val="121827"/>
                </a:solidFill>
              </a:rPr>
              <a:t>•  Android device or emulator</a:t>
            </a:r>
          </a:p>
        </p:txBody>
      </p:sp>
      <p:sp>
        <p:nvSpPr>
          <p:cNvPr id="12" name="inst-1">
            <a:extLst>
              <a:ext uri="{FF2B5EF4-FFF2-40B4-BE49-F238E27FC236}">
                <a16:creationId xmlns:a16="http://schemas.microsoft.com/office/drawing/2014/main" id="{DB4D66C8-F373-4F5A-ADCE-6FB8CEB92F4A}"/>
              </a:ext>
            </a:extLst>
          </p:cNvPr>
          <p:cNvSpPr>
            <a:spLocks noGrp="1"/>
          </p:cNvSpPr>
          <p:nvPr/>
        </p:nvSpPr>
        <p:spPr>
          <a:xfrm>
            <a:off x="4000500" y="1714500"/>
            <a:ext cx="2952750" cy="352425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7DFEA"/>
            </a:solidFill>
            <a:prstDash val="solid"/>
          </a:ln>
        </p:spPr>
      </p:sp>
      <p:sp>
        <p:nvSpPr>
          <p:cNvPr id="13" name="ih-1">
            <a:extLst>
              <a:ext uri="{FF2B5EF4-FFF2-40B4-BE49-F238E27FC236}">
                <a16:creationId xmlns:a16="http://schemas.microsoft.com/office/drawing/2014/main" id="{D231FCE5-158D-4705-8685-F74139ADB6D2}"/>
              </a:ext>
            </a:extLst>
          </p:cNvPr>
          <p:cNvSpPr>
            <a:spLocks noGrp="1"/>
          </p:cNvSpPr>
          <p:nvPr/>
        </p:nvSpPr>
        <p:spPr>
          <a:xfrm>
            <a:off x="4229100" y="2047875"/>
            <a:ext cx="2495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73A66"/>
                </a:solidFill>
              </a:defRPr>
            </a:pPr>
            <a:r>
              <a:rPr sz="1425" b="1">
                <a:solidFill>
                  <a:srgbClr val="173A66"/>
                </a:solidFill>
              </a:rPr>
              <a:t>2. OPEN &amp; RUN</a:t>
            </a:r>
          </a:p>
        </p:txBody>
      </p:sp>
      <p:sp>
        <p:nvSpPr>
          <p:cNvPr id="14" name="ib-1-0">
            <a:extLst>
              <a:ext uri="{FF2B5EF4-FFF2-40B4-BE49-F238E27FC236}">
                <a16:creationId xmlns:a16="http://schemas.microsoft.com/office/drawing/2014/main" id="{A2A9BA70-8876-4317-AFC2-B27FE1F88718}"/>
              </a:ext>
            </a:extLst>
          </p:cNvPr>
          <p:cNvSpPr>
            <a:spLocks noGrp="1"/>
          </p:cNvSpPr>
          <p:nvPr/>
        </p:nvSpPr>
        <p:spPr>
          <a:xfrm>
            <a:off x="4229100" y="2714625"/>
            <a:ext cx="2495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21827"/>
                </a:solidFill>
              </a:defRPr>
            </a:pPr>
            <a:r>
              <a:rPr sz="1200" b="0">
                <a:solidFill>
                  <a:srgbClr val="121827"/>
                </a:solidFill>
              </a:rPr>
              <a:t>•  Add project from disk</a:t>
            </a:r>
          </a:p>
        </p:txBody>
      </p:sp>
      <p:sp>
        <p:nvSpPr>
          <p:cNvPr id="15" name="ib-1-1">
            <a:extLst>
              <a:ext uri="{FF2B5EF4-FFF2-40B4-BE49-F238E27FC236}">
                <a16:creationId xmlns:a16="http://schemas.microsoft.com/office/drawing/2014/main" id="{82C7972B-1BA0-429E-AC0F-64ADF904D11C}"/>
              </a:ext>
            </a:extLst>
          </p:cNvPr>
          <p:cNvSpPr>
            <a:spLocks noGrp="1"/>
          </p:cNvSpPr>
          <p:nvPr/>
        </p:nvSpPr>
        <p:spPr>
          <a:xfrm>
            <a:off x="4229100" y="3267075"/>
            <a:ext cx="2495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21827"/>
                </a:solidFill>
              </a:defRPr>
            </a:pPr>
            <a:r>
              <a:rPr sz="1200" b="0">
                <a:solidFill>
                  <a:srgbClr val="121827"/>
                </a:solidFill>
              </a:rPr>
              <a:t>•  Restore packages</a:t>
            </a:r>
          </a:p>
        </p:txBody>
      </p:sp>
      <p:sp>
        <p:nvSpPr>
          <p:cNvPr id="16" name="ib-1-2">
            <a:extLst>
              <a:ext uri="{FF2B5EF4-FFF2-40B4-BE49-F238E27FC236}">
                <a16:creationId xmlns:a16="http://schemas.microsoft.com/office/drawing/2014/main" id="{3166C0D8-883F-4AB9-96A2-E6165F4E5BB7}"/>
              </a:ext>
            </a:extLst>
          </p:cNvPr>
          <p:cNvSpPr>
            <a:spLocks noGrp="1"/>
          </p:cNvSpPr>
          <p:nvPr/>
        </p:nvSpPr>
        <p:spPr>
          <a:xfrm>
            <a:off x="4229100" y="3819525"/>
            <a:ext cx="2495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21827"/>
                </a:solidFill>
              </a:defRPr>
            </a:pPr>
            <a:r>
              <a:rPr sz="1200" b="0">
                <a:solidFill>
                  <a:srgbClr val="121827"/>
                </a:solidFill>
              </a:rPr>
              <a:t>•  Open MainMenu.unity</a:t>
            </a:r>
          </a:p>
        </p:txBody>
      </p:sp>
      <p:sp>
        <p:nvSpPr>
          <p:cNvPr id="17" name="ib-1-3">
            <a:extLst>
              <a:ext uri="{FF2B5EF4-FFF2-40B4-BE49-F238E27FC236}">
                <a16:creationId xmlns:a16="http://schemas.microsoft.com/office/drawing/2014/main" id="{0A1F2029-3DCB-428E-8BEA-F4DA5B1D5316}"/>
              </a:ext>
            </a:extLst>
          </p:cNvPr>
          <p:cNvSpPr>
            <a:spLocks noGrp="1"/>
          </p:cNvSpPr>
          <p:nvPr/>
        </p:nvSpPr>
        <p:spPr>
          <a:xfrm>
            <a:off x="4229100" y="4371975"/>
            <a:ext cx="2495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21827"/>
                </a:solidFill>
              </a:defRPr>
            </a:pPr>
            <a:r>
              <a:rPr sz="1200" b="0">
                <a:solidFill>
                  <a:srgbClr val="121827"/>
                </a:solidFill>
              </a:rPr>
              <a:t>•  Press Play and verify systems</a:t>
            </a:r>
          </a:p>
        </p:txBody>
      </p:sp>
      <p:sp>
        <p:nvSpPr>
          <p:cNvPr id="18" name="inst-2">
            <a:extLst>
              <a:ext uri="{FF2B5EF4-FFF2-40B4-BE49-F238E27FC236}">
                <a16:creationId xmlns:a16="http://schemas.microsoft.com/office/drawing/2014/main" id="{BE36698E-3E58-47AF-9C18-372E3A017FEF}"/>
              </a:ext>
            </a:extLst>
          </p:cNvPr>
          <p:cNvSpPr>
            <a:spLocks noGrp="1"/>
          </p:cNvSpPr>
          <p:nvPr/>
        </p:nvSpPr>
        <p:spPr>
          <a:xfrm>
            <a:off x="7315200" y="1714500"/>
            <a:ext cx="2952750" cy="3524250"/>
          </a:xfrm>
          <a:prstGeom prst="roundRect">
            <a:avLst>
              <a:gd name="adj" fmla="val 5161"/>
            </a:avLst>
          </a:prstGeom>
          <a:solidFill>
            <a:srgbClr val="FFF5D8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19" name="ih-2">
            <a:extLst>
              <a:ext uri="{FF2B5EF4-FFF2-40B4-BE49-F238E27FC236}">
                <a16:creationId xmlns:a16="http://schemas.microsoft.com/office/drawing/2014/main" id="{1D237641-6FDB-4E28-BACD-C5B05512ABA9}"/>
              </a:ext>
            </a:extLst>
          </p:cNvPr>
          <p:cNvSpPr>
            <a:spLocks noGrp="1"/>
          </p:cNvSpPr>
          <p:nvPr/>
        </p:nvSpPr>
        <p:spPr>
          <a:xfrm>
            <a:off x="7543800" y="2047875"/>
            <a:ext cx="2495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73A66"/>
                </a:solidFill>
              </a:defRPr>
            </a:pPr>
            <a:r>
              <a:rPr sz="1425" b="1">
                <a:solidFill>
                  <a:srgbClr val="173A66"/>
                </a:solidFill>
              </a:rPr>
              <a:t>3. BUILD AND TEST</a:t>
            </a:r>
          </a:p>
        </p:txBody>
      </p:sp>
      <p:sp>
        <p:nvSpPr>
          <p:cNvPr id="20" name="ib-2-0">
            <a:extLst>
              <a:ext uri="{FF2B5EF4-FFF2-40B4-BE49-F238E27FC236}">
                <a16:creationId xmlns:a16="http://schemas.microsoft.com/office/drawing/2014/main" id="{1D316600-8363-4DC4-AAF8-BA3BC82E0732}"/>
              </a:ext>
            </a:extLst>
          </p:cNvPr>
          <p:cNvSpPr>
            <a:spLocks noGrp="1"/>
          </p:cNvSpPr>
          <p:nvPr/>
        </p:nvSpPr>
        <p:spPr>
          <a:xfrm>
            <a:off x="7543800" y="2714625"/>
            <a:ext cx="2495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21827"/>
                </a:solidFill>
              </a:defRPr>
            </a:pPr>
            <a:r>
              <a:rPr sz="1200" b="0">
                <a:solidFill>
                  <a:srgbClr val="121827"/>
                </a:solidFill>
              </a:rPr>
              <a:t>•  Switch platform to Android</a:t>
            </a:r>
          </a:p>
        </p:txBody>
      </p:sp>
      <p:sp>
        <p:nvSpPr>
          <p:cNvPr id="21" name="ib-2-1">
            <a:extLst>
              <a:ext uri="{FF2B5EF4-FFF2-40B4-BE49-F238E27FC236}">
                <a16:creationId xmlns:a16="http://schemas.microsoft.com/office/drawing/2014/main" id="{5F04E3DD-EC2C-457D-8319-BC1B823BBE99}"/>
              </a:ext>
            </a:extLst>
          </p:cNvPr>
          <p:cNvSpPr>
            <a:spLocks noGrp="1"/>
          </p:cNvSpPr>
          <p:nvPr/>
        </p:nvSpPr>
        <p:spPr>
          <a:xfrm>
            <a:off x="7543800" y="3267075"/>
            <a:ext cx="2495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21827"/>
                </a:solidFill>
              </a:defRPr>
            </a:pPr>
            <a:r>
              <a:rPr sz="1200" b="0">
                <a:solidFill>
                  <a:srgbClr val="121827"/>
                </a:solidFill>
              </a:rPr>
              <a:t>•  Add MainMenu and GameScene</a:t>
            </a:r>
          </a:p>
        </p:txBody>
      </p:sp>
      <p:sp>
        <p:nvSpPr>
          <p:cNvPr id="22" name="ib-2-2">
            <a:extLst>
              <a:ext uri="{FF2B5EF4-FFF2-40B4-BE49-F238E27FC236}">
                <a16:creationId xmlns:a16="http://schemas.microsoft.com/office/drawing/2014/main" id="{0E109B3A-033D-4861-8CB3-F16638E9616F}"/>
              </a:ext>
            </a:extLst>
          </p:cNvPr>
          <p:cNvSpPr>
            <a:spLocks noGrp="1"/>
          </p:cNvSpPr>
          <p:nvPr/>
        </p:nvSpPr>
        <p:spPr>
          <a:xfrm>
            <a:off x="7543800" y="3819525"/>
            <a:ext cx="2495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21827"/>
                </a:solidFill>
              </a:defRPr>
            </a:pPr>
            <a:r>
              <a:rPr sz="1200" b="0">
                <a:solidFill>
                  <a:srgbClr val="121827"/>
                </a:solidFill>
              </a:rPr>
              <a:t>•  Configure Player Settings</a:t>
            </a:r>
          </a:p>
        </p:txBody>
      </p:sp>
      <p:sp>
        <p:nvSpPr>
          <p:cNvPr id="23" name="ib-2-3">
            <a:extLst>
              <a:ext uri="{FF2B5EF4-FFF2-40B4-BE49-F238E27FC236}">
                <a16:creationId xmlns:a16="http://schemas.microsoft.com/office/drawing/2014/main" id="{6F1FF19C-C952-492B-8451-8CDD409F5E4E}"/>
              </a:ext>
            </a:extLst>
          </p:cNvPr>
          <p:cNvSpPr>
            <a:spLocks noGrp="1"/>
          </p:cNvSpPr>
          <p:nvPr/>
        </p:nvSpPr>
        <p:spPr>
          <a:xfrm>
            <a:off x="7543800" y="4371975"/>
            <a:ext cx="2495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21827"/>
                </a:solidFill>
              </a:defRPr>
            </a:pPr>
            <a:r>
              <a:rPr sz="1200" b="0">
                <a:solidFill>
                  <a:srgbClr val="121827"/>
                </a:solidFill>
              </a:rPr>
              <a:t>•  Build APK/AAB or Build and Run</a:t>
            </a:r>
          </a:p>
        </p:txBody>
      </p:sp>
      <p:sp>
        <p:nvSpPr>
          <p:cNvPr id="24" name="verify">
            <a:extLst>
              <a:ext uri="{FF2B5EF4-FFF2-40B4-BE49-F238E27FC236}">
                <a16:creationId xmlns:a16="http://schemas.microsoft.com/office/drawing/2014/main" id="{9918E689-1CAE-4323-9F0E-43167EFA4757}"/>
              </a:ext>
            </a:extLst>
          </p:cNvPr>
          <p:cNvSpPr>
            <a:spLocks noGrp="1"/>
          </p:cNvSpPr>
          <p:nvPr/>
        </p:nvSpPr>
        <p:spPr>
          <a:xfrm>
            <a:off x="1524000" y="5572125"/>
            <a:ext cx="914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21827"/>
                </a:solidFill>
              </a:defRPr>
            </a:pPr>
            <a:r>
              <a:rPr sz="1500" b="1">
                <a:solidFill>
                  <a:srgbClr val="121827"/>
                </a:solidFill>
              </a:rPr>
              <a:t>Device verification must cover UI scaling, touch input, audio, wave spawning, and game states.</a:t>
            </a:r>
          </a:p>
        </p:txBody>
      </p:sp>
    </p:spTree>
    <p:extLst>
      <p:ext uri="{BB962C8B-B14F-4D97-AF65-F5344CB8AC3E}">
        <p14:creationId xmlns:p14="http://schemas.microsoft.com/office/powerpoint/2010/main" val="297341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k">
            <a:extLst>
              <a:ext uri="{FF2B5EF4-FFF2-40B4-BE49-F238E27FC236}">
                <a16:creationId xmlns:a16="http://schemas.microsoft.com/office/drawing/2014/main" id="{0F8981C2-5C66-4E79-95EA-7FFA7D152860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78D2D7"/>
                </a:solidFill>
              </a:defRPr>
            </a:pPr>
            <a:r>
              <a:rPr sz="1050" b="1">
                <a:solidFill>
                  <a:srgbClr val="78D2D7"/>
                </a:solidFill>
              </a:rPr>
              <a:t>VII. CONCLUSION AND FUTURE DEVELOPMENT</a:t>
            </a:r>
          </a:p>
        </p:txBody>
      </p:sp>
      <p:sp>
        <p:nvSpPr>
          <p:cNvPr id="2" name="ctitle">
            <a:extLst>
              <a:ext uri="{FF2B5EF4-FFF2-40B4-BE49-F238E27FC236}">
                <a16:creationId xmlns:a16="http://schemas.microsoft.com/office/drawing/2014/main" id="{744FD79F-E0E6-45EF-9E06-7BB8B5E8D483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7620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The complete survival loop is in place</a:t>
            </a:r>
          </a:p>
        </p:txBody>
      </p:sp>
      <p:sp>
        <p:nvSpPr>
          <p:cNvPr id="3" name="cbody">
            <a:extLst>
              <a:ext uri="{FF2B5EF4-FFF2-40B4-BE49-F238E27FC236}">
                <a16:creationId xmlns:a16="http://schemas.microsoft.com/office/drawing/2014/main" id="{5EB3A05A-B83F-4327-BCE9-33DD62C116AB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7429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C7D6E8"/>
                </a:solidFill>
              </a:defRPr>
            </a:pPr>
            <a:r>
              <a:rPr sz="1650" b="0">
                <a:solidFill>
                  <a:srgbClr val="C7D6E8"/>
                </a:solidFill>
              </a:rPr>
              <a:t>Stage entry, wave spawning, automatic combat, XP and upgrades, and Win / Game Over now operate within a hybrid Unity architecture.</a:t>
            </a:r>
          </a:p>
        </p:txBody>
      </p:sp>
      <p:sp>
        <p:nvSpPr>
          <p:cNvPr id="4" name="cr">
            <a:extLst>
              <a:ext uri="{FF2B5EF4-FFF2-40B4-BE49-F238E27FC236}">
                <a16:creationId xmlns:a16="http://schemas.microsoft.com/office/drawing/2014/main" id="{9B4A82AF-91A1-463F-92FB-C526466E7A37}"/>
              </a:ext>
            </a:extLst>
          </p:cNvPr>
          <p:cNvSpPr>
            <a:spLocks noGrp="1"/>
          </p:cNvSpPr>
          <p:nvPr/>
        </p:nvSpPr>
        <p:spPr>
          <a:xfrm>
            <a:off x="685800" y="3000375"/>
            <a:ext cx="857250" cy="47625"/>
          </a:xfrm>
          <a:prstGeom prst="rect">
            <a:avLst/>
          </a:prstGeom>
          <a:solidFill>
            <a:srgbClr val="E3B341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5" name="fh-0">
            <a:extLst>
              <a:ext uri="{FF2B5EF4-FFF2-40B4-BE49-F238E27FC236}">
                <a16:creationId xmlns:a16="http://schemas.microsoft.com/office/drawing/2014/main" id="{3538CB15-04A1-4EBD-8D3B-5E78BBAA259E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BOSSES</a:t>
            </a:r>
          </a:p>
        </p:txBody>
      </p:sp>
      <p:sp>
        <p:nvSpPr>
          <p:cNvPr id="6" name="fb-0">
            <a:extLst>
              <a:ext uri="{FF2B5EF4-FFF2-40B4-BE49-F238E27FC236}">
                <a16:creationId xmlns:a16="http://schemas.microsoft.com/office/drawing/2014/main" id="{E44329A9-FD43-4019-BA24-73ABFC2EC431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C7D6E8"/>
                </a:solidFill>
              </a:defRPr>
            </a:pPr>
            <a:r>
              <a:rPr sz="1200" b="0">
                <a:solidFill>
                  <a:srgbClr val="C7D6E8"/>
                </a:solidFill>
              </a:rPr>
              <a:t>New archetypes and explicit attack states</a:t>
            </a:r>
          </a:p>
        </p:txBody>
      </p:sp>
      <p:sp>
        <p:nvSpPr>
          <p:cNvPr id="7" name="fh-1">
            <a:extLst>
              <a:ext uri="{FF2B5EF4-FFF2-40B4-BE49-F238E27FC236}">
                <a16:creationId xmlns:a16="http://schemas.microsoft.com/office/drawing/2014/main" id="{BC8DDE62-7A2A-4CDC-B3C3-3A96C75C0FE1}"/>
              </a:ext>
            </a:extLst>
          </p:cNvPr>
          <p:cNvSpPr>
            <a:spLocks noGrp="1"/>
          </p:cNvSpPr>
          <p:nvPr/>
        </p:nvSpPr>
        <p:spPr>
          <a:xfrm>
            <a:off x="6019800" y="34290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8" name="fb-1">
            <a:extLst>
              <a:ext uri="{FF2B5EF4-FFF2-40B4-BE49-F238E27FC236}">
                <a16:creationId xmlns:a16="http://schemas.microsoft.com/office/drawing/2014/main" id="{668616B2-5CA8-40D4-B709-7023D50A407B}"/>
              </a:ext>
            </a:extLst>
          </p:cNvPr>
          <p:cNvSpPr>
            <a:spLocks noGrp="1"/>
          </p:cNvSpPr>
          <p:nvPr/>
        </p:nvSpPr>
        <p:spPr>
          <a:xfrm>
            <a:off x="6019800" y="379095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C7D6E8"/>
                </a:solidFill>
              </a:defRPr>
            </a:pPr>
            <a:r>
              <a:rPr sz="1200" b="0">
                <a:solidFill>
                  <a:srgbClr val="C7D6E8"/>
                </a:solidFill>
              </a:rPr>
              <a:t>Pooling, profiling, and GC reduction</a:t>
            </a:r>
          </a:p>
        </p:txBody>
      </p:sp>
      <p:sp>
        <p:nvSpPr>
          <p:cNvPr id="9" name="fh-2">
            <a:extLst>
              <a:ext uri="{FF2B5EF4-FFF2-40B4-BE49-F238E27FC236}">
                <a16:creationId xmlns:a16="http://schemas.microsoft.com/office/drawing/2014/main" id="{7CB11663-9D1D-4D6E-A64B-71472659B61B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DEPTH</a:t>
            </a:r>
          </a:p>
        </p:txBody>
      </p:sp>
      <p:sp>
        <p:nvSpPr>
          <p:cNvPr id="10" name="fb-2">
            <a:extLst>
              <a:ext uri="{FF2B5EF4-FFF2-40B4-BE49-F238E27FC236}">
                <a16:creationId xmlns:a16="http://schemas.microsoft.com/office/drawing/2014/main" id="{FAD3EF67-CC12-4BE3-8E43-4C3F755BA17E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C7D6E8"/>
                </a:solidFill>
              </a:defRPr>
            </a:pPr>
            <a:r>
              <a:rPr sz="1200" b="0">
                <a:solidFill>
                  <a:srgbClr val="C7D6E8"/>
                </a:solidFill>
              </a:rPr>
              <a:t>More stages, weapon synergies, and progression</a:t>
            </a:r>
          </a:p>
        </p:txBody>
      </p:sp>
      <p:sp>
        <p:nvSpPr>
          <p:cNvPr id="11" name="fh-3">
            <a:extLst>
              <a:ext uri="{FF2B5EF4-FFF2-40B4-BE49-F238E27FC236}">
                <a16:creationId xmlns:a16="http://schemas.microsoft.com/office/drawing/2014/main" id="{5AA8379C-E86C-4D9B-BD93-8E4EA8F8D0BD}"/>
              </a:ext>
            </a:extLst>
          </p:cNvPr>
          <p:cNvSpPr>
            <a:spLocks noGrp="1"/>
          </p:cNvSpPr>
          <p:nvPr/>
        </p:nvSpPr>
        <p:spPr>
          <a:xfrm>
            <a:off x="6019800" y="45720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QUALITY</a:t>
            </a:r>
          </a:p>
        </p:txBody>
      </p:sp>
      <p:sp>
        <p:nvSpPr>
          <p:cNvPr id="12" name="fb-3">
            <a:extLst>
              <a:ext uri="{FF2B5EF4-FFF2-40B4-BE49-F238E27FC236}">
                <a16:creationId xmlns:a16="http://schemas.microsoft.com/office/drawing/2014/main" id="{2CCAC828-50E7-460D-B4C7-112DD8DC2C6B}"/>
              </a:ext>
            </a:extLst>
          </p:cNvPr>
          <p:cNvSpPr>
            <a:spLocks noGrp="1"/>
          </p:cNvSpPr>
          <p:nvPr/>
        </p:nvSpPr>
        <p:spPr>
          <a:xfrm>
            <a:off x="6019800" y="493395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C7D6E8"/>
                </a:solidFill>
              </a:defRPr>
            </a:pPr>
            <a:r>
              <a:rPr sz="1200" b="0">
                <a:solidFill>
                  <a:srgbClr val="C7D6E8"/>
                </a:solidFill>
              </a:rPr>
              <a:t>Automated Play Mode and accessibility tests</a:t>
            </a:r>
          </a:p>
        </p:txBody>
      </p:sp>
      <p:sp>
        <p:nvSpPr>
          <p:cNvPr id="13" name="cf">
            <a:extLst>
              <a:ext uri="{FF2B5EF4-FFF2-40B4-BE49-F238E27FC236}">
                <a16:creationId xmlns:a16="http://schemas.microsoft.com/office/drawing/2014/main" id="{9337DFE5-4D58-4DDF-BF3E-F884FF9E51BD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91A8C2"/>
                </a:solidFill>
              </a:defRPr>
            </a:pPr>
            <a:r>
              <a:rPr sz="900" b="1">
                <a:solidFill>
                  <a:srgbClr val="91A8C2"/>
                </a:solidFill>
              </a:rPr>
              <a:t>THE MOONSTONE  •  GD1305 CAPSTONE PROJECT</a:t>
            </a:r>
          </a:p>
        </p:txBody>
      </p:sp>
    </p:spTree>
    <p:extLst>
      <p:ext uri="{BB962C8B-B14F-4D97-AF65-F5344CB8AC3E}">
        <p14:creationId xmlns:p14="http://schemas.microsoft.com/office/powerpoint/2010/main" val="57484605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1427</Words>
  <Application>Microsoft Office PowerPoint</Application>
  <DocSecurity>0</DocSecurity>
  <PresentationFormat>Widescreen</PresentationFormat>
  <Paragraphs>217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Tiến Vũ</cp:lastModifiedBy>
  <cp:revision>1</cp:revision>
  <dcterms:created xsi:type="dcterms:W3CDTF">2026-08-30T16:20:13Z</dcterms:created>
  <dcterms:modified xsi:type="dcterms:W3CDTF">2026-08-30T16:47:50Z</dcterms:modified>
</cp:coreProperties>
</file>